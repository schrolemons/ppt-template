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6519eebf2246ca" /><Relationship Type="http://schemas.openxmlformats.org/officeDocument/2006/relationships/extended-properties" Target="/docProps/app.xml" Id="R83839e66633f475c" /><Relationship Type="http://schemas.openxmlformats.org/officeDocument/2006/relationships/officeDocument" Target="/ppt/presentation.xml" Id="R92c0549fdebe41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6c17d472e8424f"/>
  </p:sldMasterIdLst>
  <p:notesMasterIdLst>
    <p:notesMasterId xmlns:r="http://schemas.openxmlformats.org/officeDocument/2006/relationships" r:id="R07f0afc934604938"/>
  </p:notesMasterIdLst>
  <p:sldIdLst>
    <p:sldId xmlns:r="http://schemas.openxmlformats.org/officeDocument/2006/relationships" id="256" r:id="R71aa16741f9e44c9"/>
    <p:sldId xmlns:r="http://schemas.openxmlformats.org/officeDocument/2006/relationships" id="257" r:id="Rcc3d91bc52c040d8"/>
    <p:sldId xmlns:r="http://schemas.openxmlformats.org/officeDocument/2006/relationships" id="258" r:id="Ra4c45a7cc6164e5f"/>
    <p:sldId xmlns:r="http://schemas.openxmlformats.org/officeDocument/2006/relationships" id="259" r:id="R4fbbd621191e4dba"/>
    <p:sldId xmlns:r="http://schemas.openxmlformats.org/officeDocument/2006/relationships" id="260" r:id="Re5ccfdd4e1e94d44"/>
    <p:sldId xmlns:r="http://schemas.openxmlformats.org/officeDocument/2006/relationships" id="261" r:id="R24c2f1c5db4a48ee"/>
    <p:sldId xmlns:r="http://schemas.openxmlformats.org/officeDocument/2006/relationships" id="262" r:id="Re9131799c7c64509"/>
    <p:sldId xmlns:r="http://schemas.openxmlformats.org/officeDocument/2006/relationships" id="263" r:id="R1e06768b604940a8"/>
    <p:sldId xmlns:r="http://schemas.openxmlformats.org/officeDocument/2006/relationships" id="264" r:id="R6835d4788fa94a40"/>
    <p:sldId xmlns:r="http://schemas.openxmlformats.org/officeDocument/2006/relationships" id="265" r:id="Ra6f73934f2254c78"/>
    <p:sldId xmlns:r="http://schemas.openxmlformats.org/officeDocument/2006/relationships" id="266" r:id="R5c9cfed69f6846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22f71e928d468d" /><Relationship Type="http://schemas.openxmlformats.org/officeDocument/2006/relationships/slideMaster" Target="/ppt/slideMasters/slideMaster1.xml" Id="Rb16c17d472e8424f" /><Relationship Type="http://schemas.openxmlformats.org/officeDocument/2006/relationships/notesMaster" Target="/ppt/notesMasters/notesMaster1.xml" Id="R07f0afc934604938" /><Relationship Type="http://schemas.openxmlformats.org/officeDocument/2006/relationships/presProps" Target="/ppt/presProps.xml" Id="Rf2e6ebd6a8674977" /><Relationship Type="http://schemas.openxmlformats.org/officeDocument/2006/relationships/viewProps" Target="/ppt/viewProps.xml" Id="R6f1692b7a8924654" /><Relationship Type="http://schemas.openxmlformats.org/officeDocument/2006/relationships/tableStyles" Target="/ppt/tableStyles.xml" Id="Rf307010111994f49" /><Relationship Type="http://schemas.openxmlformats.org/officeDocument/2006/relationships/slide" Target="/ppt/slides/slide1.xml" Id="R71aa16741f9e44c9" /><Relationship Type="http://schemas.openxmlformats.org/officeDocument/2006/relationships/slide" Target="/ppt/slides/slide2.xml" Id="Rcc3d91bc52c040d8" /><Relationship Type="http://schemas.openxmlformats.org/officeDocument/2006/relationships/slide" Target="/ppt/slides/slide3.xml" Id="Ra4c45a7cc6164e5f" /><Relationship Type="http://schemas.openxmlformats.org/officeDocument/2006/relationships/slide" Target="/ppt/slides/slide4.xml" Id="R4fbbd621191e4dba" /><Relationship Type="http://schemas.openxmlformats.org/officeDocument/2006/relationships/slide" Target="/ppt/slides/slide5.xml" Id="Re5ccfdd4e1e94d44" /><Relationship Type="http://schemas.openxmlformats.org/officeDocument/2006/relationships/slide" Target="/ppt/slides/slide6.xml" Id="R24c2f1c5db4a48ee" /><Relationship Type="http://schemas.openxmlformats.org/officeDocument/2006/relationships/slide" Target="/ppt/slides/slide7.xml" Id="Re9131799c7c64509" /><Relationship Type="http://schemas.openxmlformats.org/officeDocument/2006/relationships/slide" Target="/ppt/slides/slide8.xml" Id="R1e06768b604940a8" /><Relationship Type="http://schemas.openxmlformats.org/officeDocument/2006/relationships/slide" Target="/ppt/slides/slide9.xml" Id="R6835d4788fa94a40" /><Relationship Type="http://schemas.openxmlformats.org/officeDocument/2006/relationships/slide" Target="/ppt/slides/slide10.xml" Id="Ra6f73934f2254c78" /><Relationship Type="http://schemas.openxmlformats.org/officeDocument/2006/relationships/slide" Target="/ppt/slides/slide11.xml" Id="R5c9cfed69f6846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42a33435ec40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7daad119514577" /><Relationship Type="http://schemas.openxmlformats.org/officeDocument/2006/relationships/notesMaster" Target="/ppt/notesMasters/notesMaster1.xml" Id="R79e32841877241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be3f09088e42f9" /><Relationship Type="http://schemas.openxmlformats.org/officeDocument/2006/relationships/notesMaster" Target="/ppt/notesMasters/notesMaster1.xml" Id="Rdc5fc5143f0f4a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c21ac961e241bd" /><Relationship Type="http://schemas.openxmlformats.org/officeDocument/2006/relationships/notesMaster" Target="/ppt/notesMasters/notesMaster1.xml" Id="R0733b5c0946349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5fc32b93d34f90" /><Relationship Type="http://schemas.openxmlformats.org/officeDocument/2006/relationships/notesMaster" Target="/ppt/notesMasters/notesMaster1.xml" Id="R526db9eeb8ac45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b90cebb4d0457f" /><Relationship Type="http://schemas.openxmlformats.org/officeDocument/2006/relationships/notesMaster" Target="/ppt/notesMasters/notesMaster1.xml" Id="R3f3be897ab5644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6ac45360254336" /><Relationship Type="http://schemas.openxmlformats.org/officeDocument/2006/relationships/notesMaster" Target="/ppt/notesMasters/notesMaster1.xml" Id="R60c5b9d6ed8f41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44e0df0e814ff3" /><Relationship Type="http://schemas.openxmlformats.org/officeDocument/2006/relationships/notesMaster" Target="/ppt/notesMasters/notesMaster1.xml" Id="R7888d4d2108945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d2288e9f2c4ed1" /><Relationship Type="http://schemas.openxmlformats.org/officeDocument/2006/relationships/notesMaster" Target="/ppt/notesMasters/notesMaster1.xml" Id="R5a19389292be45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e3a01756e6455e" /><Relationship Type="http://schemas.openxmlformats.org/officeDocument/2006/relationships/notesMaster" Target="/ppt/notesMasters/notesMaster1.xml" Id="R3c69046dfc5842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c68af467dc4c39" /><Relationship Type="http://schemas.openxmlformats.org/officeDocument/2006/relationships/notesMaster" Target="/ppt/notesMasters/notesMaster1.xml" Id="R40fd276eac4e45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449c6a04dd43a7" /><Relationship Type="http://schemas.openxmlformats.org/officeDocument/2006/relationships/notesMaster" Target="/ppt/notesMasters/notesMaster1.xml" Id="R48384868a27b42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Mind's Eye让LLM把问题转换为MuJoCo仿真设置，并读取数值推进结果组织答案。连续物理状态由MuJoCo推进，LLM负责设定、读取和解释。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通俗地说，LLM先搭好物理实验，真正计算碰撞和运动的是MuJoCo，最后LLM根据实验结果回答。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下一页进入“C 类｜WorMI：领域世界模型向冻结 LLM 注入状态知识”，继续按本章目录展开。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《LLM与世界模型结合研究整理》行104–125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WorMI为多个领域分别训练世界模型，测试时检索top-K相关模型，并把其动力学隐藏状态注入冻结LLM。状态转移知识由领域世界模型提供，LLM作为最终策略输出动作。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通俗地说，遇到新环境时先找最相关的几本动力学手册，再把这些内部知识交给冻结的LLM决策。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下一页进入“D 类｜V-JEPA 2 与 LLM 的双分支协同”，继续按本章目录展开。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《LLM与世界模型结合研究整理》行126–148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D类页面只介绍V-JEPA 2与Qwen2的双分支，不混入AtomVLA。问答分支和机器人规划分支共享视觉表征，但原研究没有把两条分支合成语言控制机器人。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通俗地说，同一套视频表征一边用于回答问题，一边用于预测动作后果，但两条功能并没有串成一条控制链。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下一页进入“E 类｜LLM 为动力学模型提供信息：WorldCoder”，继续按本章目录展开。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《LLM与世界模型结合研究整理》行173–194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omVLA针对长时程操作中的语义—动作脱节、误差累积，以及真实机器人在线强化学习昂贵且存在安全风险的问题，把高层任务拆解与潜在世界模型评分放到离线训练阶段。两个阶段顺序优化同一个动作头，最终部署的是训练后的VLA策略，而不是GPT-4o或JEPA世界模型。后续页面再分别展开Stage I、Stage II、原论文总图与真机推理。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通俗地说，GPT-4o负责把长任务分段，JEPA负责在训练时判断候选动作会带来什么后果，两位老师最终共同改进同一个动作头。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下一页进入“AtomVLA 世界模型定位｜训练期短时潜在动作评分器”，继续按本章目录展开。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《LLM与世界模型结合研究整理》行368–379</a:t>
            </a:r>
          </a:p>
          <a:p xmlns:a="http://schemas.openxmlformats.org/drawingml/2006/main">
            <a:r>
              <a:t>- 行381–396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I把长时示范显式拆成原子子任务，并在子任务条件下监督微调动作头。输出π_ref既能执行任务，也为Stage II提供策略初始化和KL参考。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通俗地说，GPT-4o先给示范视频分章节，动作头再按每一小段模仿专家。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下一页进入“AtomVLA Stage II｜V-JEPA2 评分与 GRPO 后训练”，继续按本章目录展开。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《LLM与世界模型结合研究整理》行224–230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II从同一离线示范中采样状态，动作头生成十个候选动作块，冻结JEPA逐个预测后果并形成奖励。GRPO利用组内相对优势更新动作头，KL限制其不要偏离π_ref过远。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通俗地说，同一状态先产生十种动作，JEPA预演并排序，动作头以后更倾向生成高分动作。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下一页进入“AtomVLA 原论文总图｜监督训练、世界模型后训练与部署”，继续按本章目录展开。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《LLM与世界模型结合研究整理》行231–238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DreamGen的世界模型不在部署时规划，而是在离线阶段生成机器人视频，再通过IDM或LAPA补出伪动作，形成可训练的神经轨迹。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通俗地说，它先拍一部机器人教学片，再给视频补上动作答案，最后让真正的控制策略学习。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下一页进入“DreamGen 训练与部署｜世界模型只在离线制备数据”，继续按本章目录展开。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《机器人x世界模型四种应用方式》行57–71</a:t>
            </a:r>
          </a:p>
          <a:p xmlns:a="http://schemas.openxmlformats.org/drawingml/2006/main">
            <a:r>
              <a:t>- image-01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DreamGen训练链的最终产物是可独立部署的视觉运动策略。世界模型和伪动作模型只用于制作训练数据，不在真实控制循环中运行。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通俗地说，制作教材时需要世界模型，上场执行时只带学成后的策略。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下一页进入“DayDreamer｜随真实交互更新的潜在世界模型”，继续按本章目录展开。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《机器人x世界模型四种应用方式》行81–89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本页解释物理探针存在的因果必要性，而不是罗列组件。JEPA给出候选未来的latent，探针把它恢复为控制器能够计算约束和代价的物理轨迹，MPPI才能比较候选并交给PX4执行第一条命令。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通俗地说，JEPA说的是内部语言，物理探针把它翻译成位置、速度和姿态，控制器才能真正算哪条飞行轨迹更好。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下一页进入“SkyJEPA 完整训练流程｜八步构建可控潜动力学”，继续按本章目录展开。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《机器人x世界模型四种应用方式》行287–296</a:t>
            </a:r>
          </a:p>
          <a:p xmlns:a="http://schemas.openxmlformats.org/drawingml/2006/main">
            <a:r>
              <a:t>- image-06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SkyJEPA训练流程严格保留原表八步。前三步构造跨动力学域的控制数据，中间三步学习稳定多步latent，最后冻结世界模型并单独训练物理恢复接口。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通俗地说，先在很多不同飞行条件下收集轨迹，再学内部动力学，最后给它配一个物理翻译器。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下一页进入“SkyJEPA 完整机载推理｜八步滚动闭环”，继续按本章目录展开。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《机器人x世界模型四种应用方式》行297–307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两者都先提出候选并预测未来，但评分变量不同。V-JEPA 2-AC直接比较目标latent，SkyJEPA先把latent恢复为物理轨迹，再使用经典控制代价。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通俗地说，一个直接比较内部表示，另一个先把内部表示翻译成真实物理量再打分。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下一页进入“VideoVLA｜未来视觉与动作由同一骨干联合生成”，继续按本章目录展开。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《机器人x世界模型四种应用方式》行320–328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35aaeea6994b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fb20d0dbb44975" /><Relationship Type="http://schemas.openxmlformats.org/officeDocument/2006/relationships/slideLayout" Target="/ppt/slideLayouts/slideLayout1.xml" Id="R4b3ddeb1862d4c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3ddeb1862d4c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dc3e3f42e4dea" /><Relationship Type="http://schemas.openxmlformats.org/officeDocument/2006/relationships/notesSlide" Target="/ppt/notesSlides/notesSlide1.xml" Id="Rd04a54ed608144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54ebe4ef842a0" /><Relationship Type="http://schemas.openxmlformats.org/officeDocument/2006/relationships/notesSlide" Target="/ppt/notesSlides/notesSlide2.xml" Id="R9ba5b693a49648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6d79a5de849ba" /><Relationship Type="http://schemas.openxmlformats.org/officeDocument/2006/relationships/notesSlide" Target="/ppt/notesSlides/notesSlide3.xml" Id="Rdd87c6a0470744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2f4ed69e5498a" /><Relationship Type="http://schemas.openxmlformats.org/officeDocument/2006/relationships/notesSlide" Target="/ppt/notesSlides/notesSlide4.xml" Id="R8b0ed75791e042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58df10b1b4f28" /><Relationship Type="http://schemas.openxmlformats.org/officeDocument/2006/relationships/notesSlide" Target="/ppt/notesSlides/notesSlide5.xml" Id="R5643508c340e40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009ec80d846fa" /><Relationship Type="http://schemas.openxmlformats.org/officeDocument/2006/relationships/notesSlide" Target="/ppt/notesSlides/notesSlide6.xml" Id="R2cb46196e5b342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f4c593a184792" /><Relationship Type="http://schemas.openxmlformats.org/officeDocument/2006/relationships/image" Target="/ppt/media/image.png" Id="Rcc163dac34a54f51" /><Relationship Type="http://schemas.openxmlformats.org/officeDocument/2006/relationships/notesSlide" Target="/ppt/notesSlides/notesSlide7.xml" Id="R17b56395502c42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1955c6b864a32" /><Relationship Type="http://schemas.openxmlformats.org/officeDocument/2006/relationships/notesSlide" Target="/ppt/notesSlides/notesSlide8.xml" Id="Rb48adfdce8f447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a7780265e4c9f" /><Relationship Type="http://schemas.openxmlformats.org/officeDocument/2006/relationships/image" Target="/ppt/media/image2.png" Id="Ra5b0eea8d65e4d15" /><Relationship Type="http://schemas.openxmlformats.org/officeDocument/2006/relationships/notesSlide" Target="/ppt/notesSlides/notesSlide9.xml" Id="R0f7b20d4c7c148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0f7036f4e4a45" /><Relationship Type="http://schemas.openxmlformats.org/officeDocument/2006/relationships/notesSlide" Target="/ppt/notesSlides/notesSlide10.xml" Id="R2a7aa13c8dc044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9b044367245b2" /><Relationship Type="http://schemas.openxmlformats.org/officeDocument/2006/relationships/notesSlide" Target="/ppt/notesSlides/notesSlide11.xml" Id="Rd6d775e8d53845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9AF1650-56EC-4472-A12D-0433E16C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第三部分｜LLM 与世界模型结合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69EF034-D07B-4C9C-AE1C-A6ABAEBC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C 类｜Mind's Eye：物理引擎提供数值仿真证据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8CCD1FB3-69FA-4B79-A086-B48A33BD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848E9BF-3B09-4A69-A173-C8B5E19A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5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96549CDC-E876-48AA-B1D8-3B9957E1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《LLM与世界模型结合研究整理》§4.2。</a:t>
            </a:r>
          </a:p>
        </p:txBody>
      </p:sp>
      <p:sp>
        <p:nvSpPr>
          <p:cNvPr id="55" name="category-band-33-0">
            <a:extLst xmlns:a="http://schemas.openxmlformats.org/drawingml/2006/main">
              <a:ext uri="{FF2B5EF4-FFF2-40B4-BE49-F238E27FC236}">
                <a16:creationId xmlns:a16="http://schemas.microsoft.com/office/drawing/2014/main" id="{D6816E93-28BC-4DF8-9F19-B7B6863F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111252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4DEE5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category-name-33-0">
            <a:extLst xmlns:a="http://schemas.openxmlformats.org/drawingml/2006/main">
              <a:ext uri="{FF2B5EF4-FFF2-40B4-BE49-F238E27FC236}">
                <a16:creationId xmlns:a16="http://schemas.microsoft.com/office/drawing/2014/main" id="{180E92FC-0D04-4E82-838E-21EE6F3E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17145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Mind's Eye</a:t>
            </a:r>
          </a:p>
        </p:txBody>
      </p:sp>
      <p:sp>
        <p:nvSpPr>
          <p:cNvPr id="57" name="category-oneline-33-0">
            <a:extLst xmlns:a="http://schemas.openxmlformats.org/drawingml/2006/main">
              <a:ext uri="{FF2B5EF4-FFF2-40B4-BE49-F238E27FC236}">
                <a16:creationId xmlns:a16="http://schemas.microsoft.com/office/drawing/2014/main" id="{64921F95-1623-4E3F-AABD-3A67C419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8600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一句话概括｜让LLM把物理问题转成MuJoCo场景，用数值仿真结果约束最终答案。</a:t>
            </a:r>
          </a:p>
        </p:txBody>
      </p:sp>
      <p:sp>
        <p:nvSpPr>
          <p:cNvPr id="58" name="category-single-label-33-0">
            <a:extLst xmlns:a="http://schemas.openxmlformats.org/drawingml/2006/main">
              <a:ext uri="{FF2B5EF4-FFF2-40B4-BE49-F238E27FC236}">
                <a16:creationId xmlns:a16="http://schemas.microsoft.com/office/drawing/2014/main" id="{85962D16-5B77-404C-A53D-1B6EAF79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33700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发现的问题</a:t>
            </a:r>
          </a:p>
        </p:txBody>
      </p:sp>
      <p:sp>
        <p:nvSpPr>
          <p:cNvPr id="59" name="category-single-body-33-0">
            <a:extLst xmlns:a="http://schemas.openxmlformats.org/drawingml/2006/main">
              <a:ext uri="{FF2B5EF4-FFF2-40B4-BE49-F238E27FC236}">
                <a16:creationId xmlns:a16="http://schemas.microsoft.com/office/drawing/2014/main" id="{681354C4-7966-4E8D-9986-7E81C4D1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00400"/>
            <a:ext cx="4457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2857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LLM能复述物理概念，却常在碰撞、运动与干预后果上给出不可靠答案。</a:t>
            </a:r>
          </a:p>
        </p:txBody>
      </p:sp>
      <p:sp>
        <p:nvSpPr>
          <p:cNvPr id="60" name="category-single-label-33-1">
            <a:extLst xmlns:a="http://schemas.openxmlformats.org/drawingml/2006/main">
              <a:ext uri="{FF2B5EF4-FFF2-40B4-BE49-F238E27FC236}">
                <a16:creationId xmlns:a16="http://schemas.microsoft.com/office/drawing/2014/main" id="{621B1BCB-2B49-4109-B917-840C4CB3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33700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优化与角色</a:t>
            </a:r>
          </a:p>
        </p:txBody>
      </p:sp>
      <p:sp>
        <p:nvSpPr>
          <p:cNvPr id="61" name="category-single-body-33-1">
            <a:extLst xmlns:a="http://schemas.openxmlformats.org/drawingml/2006/main">
              <a:ext uri="{FF2B5EF4-FFF2-40B4-BE49-F238E27FC236}">
                <a16:creationId xmlns:a16="http://schemas.microsoft.com/office/drawing/2014/main" id="{F1FB2B10-5C2F-43F3-AB2A-0D393EFC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00400"/>
            <a:ext cx="4457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2857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LLM负责把问题翻译为模拟设置、读取结果并组织答案；真正推进连续物理状态的是固定MuJoCo数值动力学引擎，而不是LLM。</a:t>
            </a:r>
          </a:p>
        </p:txBody>
      </p:sp>
      <p:sp>
        <p:nvSpPr>
          <p:cNvPr id="62" name="category-single-workflow-label-33">
            <a:extLst xmlns:a="http://schemas.openxmlformats.org/drawingml/2006/main">
              <a:ext uri="{FF2B5EF4-FFF2-40B4-BE49-F238E27FC236}">
                <a16:creationId xmlns:a16="http://schemas.microsoft.com/office/drawing/2014/main" id="{4B60F4EA-DA55-4BE7-8F70-4C00FF4F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0055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工作流</a:t>
            </a:r>
          </a:p>
        </p:txBody>
      </p:sp>
      <p:sp>
        <p:nvSpPr>
          <p:cNvPr id="63" name="category-single-workflow-33">
            <a:extLst xmlns:a="http://schemas.openxmlformats.org/drawingml/2006/main">
              <a:ext uri="{FF2B5EF4-FFF2-40B4-BE49-F238E27FC236}">
                <a16:creationId xmlns:a16="http://schemas.microsoft.com/office/drawing/2014/main" id="{07A52981-68FF-4E61-BD91-A4E36930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672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2857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LLM解析物体、初态和干预 → MuJoCo数值推进状态 → 测量结果转成文本证据 → LLM结合证据生成答案。</a:t>
            </a:r>
          </a:p>
        </p:txBody>
      </p:sp>
      <p:sp>
        <p:nvSpPr>
          <p:cNvPr id="64" name="chapter3-primary-33-0">
            <a:extLst xmlns:a="http://schemas.openxmlformats.org/drawingml/2006/main">
              <a:ext uri="{FF2B5EF4-FFF2-40B4-BE49-F238E27FC236}">
                <a16:creationId xmlns:a16="http://schemas.microsoft.com/office/drawing/2014/main" id="{8AE65601-1872-461F-A600-D5CC2617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3743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分类总览</a:t>
            </a:r>
          </a:p>
        </p:txBody>
      </p:sp>
      <p:sp>
        <p:nvSpPr>
          <p:cNvPr id="65" name="chapter3-primary-33-1">
            <a:extLst xmlns:a="http://schemas.openxmlformats.org/drawingml/2006/main">
              <a:ext uri="{FF2B5EF4-FFF2-40B4-BE49-F238E27FC236}">
                <a16:creationId xmlns:a16="http://schemas.microsoft.com/office/drawing/2014/main" id="{5C614521-A4DE-40C4-938A-649EBE59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447800"/>
            <a:ext cx="3743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五类结合方式</a:t>
            </a:r>
          </a:p>
        </p:txBody>
      </p:sp>
      <p:sp>
        <p:nvSpPr>
          <p:cNvPr id="66" name="chapter3-primary-33-2">
            <a:extLst xmlns:a="http://schemas.openxmlformats.org/drawingml/2006/main">
              <a:ext uri="{FF2B5EF4-FFF2-40B4-BE49-F238E27FC236}">
                <a16:creationId xmlns:a16="http://schemas.microsoft.com/office/drawing/2014/main" id="{027CB5FE-FC34-4C65-8194-5298784F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47800"/>
            <a:ext cx="3743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重点：AtomVLA</a:t>
            </a:r>
          </a:p>
        </p:txBody>
      </p:sp>
      <p:sp>
        <p:nvSpPr>
          <p:cNvPr id="67" name="chapter3-category-33-0">
            <a:extLst xmlns:a="http://schemas.openxmlformats.org/drawingml/2006/main">
              <a:ext uri="{FF2B5EF4-FFF2-40B4-BE49-F238E27FC236}">
                <a16:creationId xmlns:a16="http://schemas.microsoft.com/office/drawing/2014/main" id="{513D1FE5-949C-4392-BC5C-463D8518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22459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LLM预测状态</a:t>
            </a:r>
          </a:p>
        </p:txBody>
      </p:sp>
      <p:sp>
        <p:nvSpPr>
          <p:cNvPr id="68" name="chapter3-category-33-1">
            <a:extLst xmlns:a="http://schemas.openxmlformats.org/drawingml/2006/main">
              <a:ext uri="{FF2B5EF4-FFF2-40B4-BE49-F238E27FC236}">
                <a16:creationId xmlns:a16="http://schemas.microsoft.com/office/drawing/2014/main" id="{6EFC8F1C-CE98-402A-9074-18DB3A40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95" y="1752600"/>
            <a:ext cx="22459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语言进入动力学</a:t>
            </a:r>
          </a:p>
        </p:txBody>
      </p:sp>
      <p:sp>
        <p:nvSpPr>
          <p:cNvPr id="69" name="chapter3-category-33-2">
            <a:extLst xmlns:a="http://schemas.openxmlformats.org/drawingml/2006/main">
              <a:ext uri="{FF2B5EF4-FFF2-40B4-BE49-F238E27FC236}">
                <a16:creationId xmlns:a16="http://schemas.microsoft.com/office/drawing/2014/main" id="{FBE6C9F0-66AE-4665-88BC-FFFD723B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190" y="1752600"/>
            <a:ext cx="22459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世界模型提供知识</a:t>
            </a:r>
          </a:p>
        </p:txBody>
      </p:sp>
      <p:sp>
        <p:nvSpPr>
          <p:cNvPr id="70" name="chapter3-category-33-3">
            <a:extLst xmlns:a="http://schemas.openxmlformats.org/drawingml/2006/main">
              <a:ext uri="{FF2B5EF4-FFF2-40B4-BE49-F238E27FC236}">
                <a16:creationId xmlns:a16="http://schemas.microsoft.com/office/drawing/2014/main" id="{CB882596-47E0-4F38-98C0-77692814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5185" y="1752600"/>
            <a:ext cx="22459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双分支协同</a:t>
            </a:r>
          </a:p>
        </p:txBody>
      </p:sp>
      <p:sp>
        <p:nvSpPr>
          <p:cNvPr id="71" name="chapter3-category-33-4">
            <a:extLst xmlns:a="http://schemas.openxmlformats.org/drawingml/2006/main">
              <a:ext uri="{FF2B5EF4-FFF2-40B4-BE49-F238E27FC236}">
                <a16:creationId xmlns:a16="http://schemas.microsoft.com/office/drawing/2014/main" id="{3E73A46D-75F3-4FEC-A4F8-2ACAF8D3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180" y="1752600"/>
            <a:ext cx="22459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LLM生成动力学</a:t>
            </a:r>
          </a:p>
        </p:txBody>
      </p:sp>
    </p:spTree>
    <p:extLst>
      <p:ext uri="{BB962C8B-B14F-4D97-AF65-F5344CB8AC3E}">
        <p14:creationId xmlns:p14="http://schemas.microsoft.com/office/powerpoint/2010/main" val="27715709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9AF1650-56EC-4472-A12D-0433E16C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第三部分｜LLM 与世界模型结合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69EF034-D07B-4C9C-AE1C-A6ABAEBC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C 类｜WorMI：领域世界模型向冻结 LLM 注入状态知识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8CCD1FB3-69FA-4B79-A086-B48A33BD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848E9BF-3B09-4A69-A173-C8B5E19A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5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96549CDC-E876-48AA-B1D8-3B9957E1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《LLM与世界模型结合研究整理》§4.3。</a:t>
            </a:r>
          </a:p>
        </p:txBody>
      </p:sp>
      <p:sp>
        <p:nvSpPr>
          <p:cNvPr id="55" name="category-band-34-0">
            <a:extLst xmlns:a="http://schemas.openxmlformats.org/drawingml/2006/main">
              <a:ext uri="{FF2B5EF4-FFF2-40B4-BE49-F238E27FC236}">
                <a16:creationId xmlns:a16="http://schemas.microsoft.com/office/drawing/2014/main" id="{4C80478B-6A6A-484F-95B3-AA0BCEA1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111252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4DEE5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category-name-34-0">
            <a:extLst xmlns:a="http://schemas.openxmlformats.org/drawingml/2006/main">
              <a:ext uri="{FF2B5EF4-FFF2-40B4-BE49-F238E27FC236}">
                <a16:creationId xmlns:a16="http://schemas.microsoft.com/office/drawing/2014/main" id="{CCF546D6-F4FC-408A-AC57-5F725A2A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17145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WorMI</a:t>
            </a:r>
          </a:p>
        </p:txBody>
      </p:sp>
      <p:sp>
        <p:nvSpPr>
          <p:cNvPr id="57" name="category-oneline-34-0">
            <a:extLst xmlns:a="http://schemas.openxmlformats.org/drawingml/2006/main">
              <a:ext uri="{FF2B5EF4-FFF2-40B4-BE49-F238E27FC236}">
                <a16:creationId xmlns:a16="http://schemas.microsoft.com/office/drawing/2014/main" id="{7FA6C5D6-FF66-4D5F-861D-1D463659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8600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一句话概括｜先按新场景检索相关领域世界模型，再把隐藏状态注入固定LLM，帮助策略迁移到未见环境。</a:t>
            </a:r>
          </a:p>
        </p:txBody>
      </p:sp>
      <p:sp>
        <p:nvSpPr>
          <p:cNvPr id="58" name="category-single-label-34-0">
            <a:extLst xmlns:a="http://schemas.openxmlformats.org/drawingml/2006/main">
              <a:ext uri="{FF2B5EF4-FFF2-40B4-BE49-F238E27FC236}">
                <a16:creationId xmlns:a16="http://schemas.microsoft.com/office/drawing/2014/main" id="{5EA1B150-5F96-4669-AAA6-06A35933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33700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发现的问题</a:t>
            </a:r>
          </a:p>
        </p:txBody>
      </p:sp>
      <p:sp>
        <p:nvSpPr>
          <p:cNvPr id="59" name="category-single-body-34-0">
            <a:extLst xmlns:a="http://schemas.openxmlformats.org/drawingml/2006/main">
              <a:ext uri="{FF2B5EF4-FFF2-40B4-BE49-F238E27FC236}">
                <a16:creationId xmlns:a16="http://schemas.microsoft.com/office/drawing/2014/main" id="{858EA31C-0122-413E-BFF5-74E03D0B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00400"/>
            <a:ext cx="4457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2857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固定LLM策略面对新房间、新物体和新任务时缺少领域状态转移知识；为每个新域重新训练成本高。</a:t>
            </a:r>
          </a:p>
        </p:txBody>
      </p:sp>
      <p:sp>
        <p:nvSpPr>
          <p:cNvPr id="60" name="category-single-label-34-1">
            <a:extLst xmlns:a="http://schemas.openxmlformats.org/drawingml/2006/main">
              <a:ext uri="{FF2B5EF4-FFF2-40B4-BE49-F238E27FC236}">
                <a16:creationId xmlns:a16="http://schemas.microsoft.com/office/drawing/2014/main" id="{080BF04F-3437-4B5D-91DD-13F3B164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33700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优化与角色</a:t>
            </a:r>
          </a:p>
        </p:txBody>
      </p:sp>
      <p:sp>
        <p:nvSpPr>
          <p:cNvPr id="61" name="category-single-body-34-1">
            <a:extLst xmlns:a="http://schemas.openxmlformats.org/drawingml/2006/main">
              <a:ext uri="{FF2B5EF4-FFF2-40B4-BE49-F238E27FC236}">
                <a16:creationId xmlns:a16="http://schemas.microsoft.com/office/drawing/2014/main" id="{95CFAAEE-2784-45A9-B7C6-82AF346F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00400"/>
            <a:ext cx="4457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2857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分别训练多个领域世界模型，测试时检索top-K，并用compound attention把其隐藏表示注入冻结LLM；领域世界模型负责下一状态与动作可行性，LLM作为最终策略输出动作。</a:t>
            </a:r>
          </a:p>
        </p:txBody>
      </p:sp>
      <p:sp>
        <p:nvSpPr>
          <p:cNvPr id="62" name="category-single-workflow-label-34">
            <a:extLst xmlns:a="http://schemas.openxmlformats.org/drawingml/2006/main">
              <a:ext uri="{FF2B5EF4-FFF2-40B4-BE49-F238E27FC236}">
                <a16:creationId xmlns:a16="http://schemas.microsoft.com/office/drawing/2014/main" id="{017FBB8D-31DE-4581-B58B-938E95F4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0055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工作流</a:t>
            </a:r>
          </a:p>
        </p:txBody>
      </p:sp>
      <p:sp>
        <p:nvSpPr>
          <p:cNvPr id="63" name="category-single-workflow-34">
            <a:extLst xmlns:a="http://schemas.openxmlformats.org/drawingml/2006/main">
              <a:ext uri="{FF2B5EF4-FFF2-40B4-BE49-F238E27FC236}">
                <a16:creationId xmlns:a16="http://schemas.microsoft.com/office/drawing/2014/main" id="{3967F9B5-DCF0-48D7-AD2A-88A6A97A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672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2857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指令和对象状态形成查询 → 检索top-K领域世界模型 → 并行产生动力学隐藏状态 → compound attention注入LLM → 输出动作。</a:t>
            </a:r>
          </a:p>
        </p:txBody>
      </p:sp>
      <p:sp>
        <p:nvSpPr>
          <p:cNvPr id="64" name="chapter3-primary-34-0">
            <a:extLst xmlns:a="http://schemas.openxmlformats.org/drawingml/2006/main">
              <a:ext uri="{FF2B5EF4-FFF2-40B4-BE49-F238E27FC236}">
                <a16:creationId xmlns:a16="http://schemas.microsoft.com/office/drawing/2014/main" id="{7C7942C5-E2C1-44B5-B4B7-737C3ACE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3743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分类总览</a:t>
            </a:r>
          </a:p>
        </p:txBody>
      </p:sp>
      <p:sp>
        <p:nvSpPr>
          <p:cNvPr id="65" name="chapter3-primary-34-1">
            <a:extLst xmlns:a="http://schemas.openxmlformats.org/drawingml/2006/main">
              <a:ext uri="{FF2B5EF4-FFF2-40B4-BE49-F238E27FC236}">
                <a16:creationId xmlns:a16="http://schemas.microsoft.com/office/drawing/2014/main" id="{7DA78844-D931-4ACE-AC82-F43EB8E0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447800"/>
            <a:ext cx="3743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五类结合方式</a:t>
            </a:r>
          </a:p>
        </p:txBody>
      </p:sp>
      <p:sp>
        <p:nvSpPr>
          <p:cNvPr id="66" name="chapter3-primary-34-2">
            <a:extLst xmlns:a="http://schemas.openxmlformats.org/drawingml/2006/main">
              <a:ext uri="{FF2B5EF4-FFF2-40B4-BE49-F238E27FC236}">
                <a16:creationId xmlns:a16="http://schemas.microsoft.com/office/drawing/2014/main" id="{50B6F535-A4FA-4AE6-B185-FBADEFD8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47800"/>
            <a:ext cx="3743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重点：AtomVLA</a:t>
            </a:r>
          </a:p>
        </p:txBody>
      </p:sp>
      <p:sp>
        <p:nvSpPr>
          <p:cNvPr id="67" name="chapter3-category-34-0">
            <a:extLst xmlns:a="http://schemas.openxmlformats.org/drawingml/2006/main">
              <a:ext uri="{FF2B5EF4-FFF2-40B4-BE49-F238E27FC236}">
                <a16:creationId xmlns:a16="http://schemas.microsoft.com/office/drawing/2014/main" id="{F3AFE54D-DBE5-438B-833D-C44ED85C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22459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LLM预测状态</a:t>
            </a:r>
          </a:p>
        </p:txBody>
      </p:sp>
      <p:sp>
        <p:nvSpPr>
          <p:cNvPr id="68" name="chapter3-category-34-1">
            <a:extLst xmlns:a="http://schemas.openxmlformats.org/drawingml/2006/main">
              <a:ext uri="{FF2B5EF4-FFF2-40B4-BE49-F238E27FC236}">
                <a16:creationId xmlns:a16="http://schemas.microsoft.com/office/drawing/2014/main" id="{ED4C5BE9-3E54-46F7-803C-DDFC1A50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95" y="1752600"/>
            <a:ext cx="22459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语言进入动力学</a:t>
            </a:r>
          </a:p>
        </p:txBody>
      </p:sp>
      <p:sp>
        <p:nvSpPr>
          <p:cNvPr id="69" name="chapter3-category-34-2">
            <a:extLst xmlns:a="http://schemas.openxmlformats.org/drawingml/2006/main">
              <a:ext uri="{FF2B5EF4-FFF2-40B4-BE49-F238E27FC236}">
                <a16:creationId xmlns:a16="http://schemas.microsoft.com/office/drawing/2014/main" id="{7B1AF867-9DD5-4224-A40A-4F7626C7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190" y="1752600"/>
            <a:ext cx="22459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世界模型提供知识</a:t>
            </a:r>
          </a:p>
        </p:txBody>
      </p:sp>
      <p:sp>
        <p:nvSpPr>
          <p:cNvPr id="70" name="chapter3-category-34-3">
            <a:extLst xmlns:a="http://schemas.openxmlformats.org/drawingml/2006/main">
              <a:ext uri="{FF2B5EF4-FFF2-40B4-BE49-F238E27FC236}">
                <a16:creationId xmlns:a16="http://schemas.microsoft.com/office/drawing/2014/main" id="{D448AC83-F4F2-4ED6-A675-62EEF6A8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5185" y="1752600"/>
            <a:ext cx="22459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双分支协同</a:t>
            </a:r>
          </a:p>
        </p:txBody>
      </p:sp>
      <p:sp>
        <p:nvSpPr>
          <p:cNvPr id="71" name="chapter3-category-34-4">
            <a:extLst xmlns:a="http://schemas.openxmlformats.org/drawingml/2006/main">
              <a:ext uri="{FF2B5EF4-FFF2-40B4-BE49-F238E27FC236}">
                <a16:creationId xmlns:a16="http://schemas.microsoft.com/office/drawing/2014/main" id="{13B65335-9D1A-468D-B70F-9EBF00A8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180" y="1752600"/>
            <a:ext cx="22459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LLM生成动力学</a:t>
            </a:r>
          </a:p>
        </p:txBody>
      </p:sp>
    </p:spTree>
    <p:extLst>
      <p:ext uri="{BB962C8B-B14F-4D97-AF65-F5344CB8AC3E}">
        <p14:creationId xmlns:p14="http://schemas.microsoft.com/office/powerpoint/2010/main" val="27715709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9AF1650-56EC-4472-A12D-0433E16C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第三部分｜LLM 与世界模型结合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69EF034-D07B-4C9C-AE1C-A6ABAEBC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D 类｜V-JEPA 2 与 LLM 的双分支协同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8CCD1FB3-69FA-4B79-A086-B48A33BD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848E9BF-3B09-4A69-A173-C8B5E19A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5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96549CDC-E876-48AA-B1D8-3B9957E1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《LLM与世界模型结合研究整理》§6.1。</a:t>
            </a:r>
          </a:p>
        </p:txBody>
      </p:sp>
      <p:sp>
        <p:nvSpPr>
          <p:cNvPr id="55" name="category-band-35-0">
            <a:extLst xmlns:a="http://schemas.openxmlformats.org/drawingml/2006/main">
              <a:ext uri="{FF2B5EF4-FFF2-40B4-BE49-F238E27FC236}">
                <a16:creationId xmlns:a16="http://schemas.microsoft.com/office/drawing/2014/main" id="{91657B87-2AC4-4C41-BADE-CD8DCBDA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111252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4DEE5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category-name-35-0">
            <a:extLst xmlns:a="http://schemas.openxmlformats.org/drawingml/2006/main">
              <a:ext uri="{FF2B5EF4-FFF2-40B4-BE49-F238E27FC236}">
                <a16:creationId xmlns:a16="http://schemas.microsoft.com/office/drawing/2014/main" id="{C9E2CAB5-7F62-4B2A-B22E-E30EF84B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17145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V-JEPA 2 + Qwen2</a:t>
            </a:r>
          </a:p>
        </p:txBody>
      </p:sp>
      <p:sp>
        <p:nvSpPr>
          <p:cNvPr id="57" name="category-oneline-35-0">
            <a:extLst xmlns:a="http://schemas.openxmlformats.org/drawingml/2006/main">
              <a:ext uri="{FF2B5EF4-FFF2-40B4-BE49-F238E27FC236}">
                <a16:creationId xmlns:a16="http://schemas.microsoft.com/office/drawing/2014/main" id="{4A6F6C21-3892-436E-A995-8B7DEEB3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8600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一句话概括｜V-JEPA 2的视频表征可接入Qwen2做问答；真正承担状态转移的是另行训练的V-JEPA 2-AC。</a:t>
            </a:r>
          </a:p>
        </p:txBody>
      </p:sp>
      <p:sp>
        <p:nvSpPr>
          <p:cNvPr id="58" name="category-single-label-35-0">
            <a:extLst xmlns:a="http://schemas.openxmlformats.org/drawingml/2006/main">
              <a:ext uri="{FF2B5EF4-FFF2-40B4-BE49-F238E27FC236}">
                <a16:creationId xmlns:a16="http://schemas.microsoft.com/office/drawing/2014/main" id="{CBFEC9A7-F943-4E67-BF49-FA8AC195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33700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发现的问题</a:t>
            </a:r>
          </a:p>
        </p:txBody>
      </p:sp>
      <p:sp>
        <p:nvSpPr>
          <p:cNvPr id="59" name="category-single-body-35-0">
            <a:extLst xmlns:a="http://schemas.openxmlformats.org/drawingml/2006/main">
              <a:ext uri="{FF2B5EF4-FFF2-40B4-BE49-F238E27FC236}">
                <a16:creationId xmlns:a16="http://schemas.microsoft.com/office/drawing/2014/main" id="{B78F186C-B770-4F93-ABFE-878965D1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00400"/>
            <a:ext cx="4457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2857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自监督视频模型的潜变量缺少直接语言接口；机器人规划又需要动作条件的未来状态预测。</a:t>
            </a:r>
          </a:p>
        </p:txBody>
      </p:sp>
      <p:sp>
        <p:nvSpPr>
          <p:cNvPr id="60" name="category-single-label-35-1">
            <a:extLst xmlns:a="http://schemas.openxmlformats.org/drawingml/2006/main">
              <a:ext uri="{FF2B5EF4-FFF2-40B4-BE49-F238E27FC236}">
                <a16:creationId xmlns:a16="http://schemas.microsoft.com/office/drawing/2014/main" id="{4FA95CD5-D41B-49A0-BAD5-39B6F5F3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33700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优化与角色</a:t>
            </a:r>
          </a:p>
        </p:txBody>
      </p:sp>
      <p:sp>
        <p:nvSpPr>
          <p:cNvPr id="61" name="category-single-body-35-1">
            <a:extLst xmlns:a="http://schemas.openxmlformats.org/drawingml/2006/main">
              <a:ext uri="{FF2B5EF4-FFF2-40B4-BE49-F238E27FC236}">
                <a16:creationId xmlns:a16="http://schemas.microsoft.com/office/drawing/2014/main" id="{C0057A55-4FE9-49A8-9047-4F44F520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00400"/>
            <a:ext cx="4457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2857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一条分支把视频编码token经连接模块送给Qwen2，Qwen2只负责生成自然语言答案；另一条分支冻结视频编码器并训练动作条件预测器V-JEPA 2-AC，由后者承担潜在状态转移。两条分支共享视觉表征，但没有合成语言控制机器人。</a:t>
            </a:r>
          </a:p>
        </p:txBody>
      </p:sp>
      <p:sp>
        <p:nvSpPr>
          <p:cNvPr id="62" name="category-single-workflow-label-35">
            <a:extLst xmlns:a="http://schemas.openxmlformats.org/drawingml/2006/main">
              <a:ext uri="{FF2B5EF4-FFF2-40B4-BE49-F238E27FC236}">
                <a16:creationId xmlns:a16="http://schemas.microsoft.com/office/drawing/2014/main" id="{E4FB7834-A729-4ED3-A4E3-98359047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0055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工作流</a:t>
            </a:r>
          </a:p>
        </p:txBody>
      </p:sp>
      <p:sp>
        <p:nvSpPr>
          <p:cNvPr id="63" name="category-single-workflow-35">
            <a:extLst xmlns:a="http://schemas.openxmlformats.org/drawingml/2006/main">
              <a:ext uri="{FF2B5EF4-FFF2-40B4-BE49-F238E27FC236}">
                <a16:creationId xmlns:a16="http://schemas.microsoft.com/office/drawing/2014/main" id="{8FD14C58-0DBA-425B-B03F-20A7786D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672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2857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问答：视频 → V-JEPA 2编码 → 连接模块 → Qwen2结合问题生成答案。规划：当前/目标图像与候选动作 → V-JEPA 2-AC预测未来latent → CEM比较目标距离并执行动作。</a:t>
            </a:r>
          </a:p>
        </p:txBody>
      </p:sp>
      <p:sp>
        <p:nvSpPr>
          <p:cNvPr id="64" name="chapter3-primary-35-0">
            <a:extLst xmlns:a="http://schemas.openxmlformats.org/drawingml/2006/main">
              <a:ext uri="{FF2B5EF4-FFF2-40B4-BE49-F238E27FC236}">
                <a16:creationId xmlns:a16="http://schemas.microsoft.com/office/drawing/2014/main" id="{0CECFAEA-2512-469A-95CF-ECACF151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3743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分类总览</a:t>
            </a:r>
          </a:p>
        </p:txBody>
      </p:sp>
      <p:sp>
        <p:nvSpPr>
          <p:cNvPr id="65" name="chapter3-primary-35-1">
            <a:extLst xmlns:a="http://schemas.openxmlformats.org/drawingml/2006/main">
              <a:ext uri="{FF2B5EF4-FFF2-40B4-BE49-F238E27FC236}">
                <a16:creationId xmlns:a16="http://schemas.microsoft.com/office/drawing/2014/main" id="{B0CCE08D-1500-46DE-B6A7-6EF6B498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447800"/>
            <a:ext cx="3743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五类结合方式</a:t>
            </a:r>
          </a:p>
        </p:txBody>
      </p:sp>
      <p:sp>
        <p:nvSpPr>
          <p:cNvPr id="66" name="chapter3-primary-35-2">
            <a:extLst xmlns:a="http://schemas.openxmlformats.org/drawingml/2006/main">
              <a:ext uri="{FF2B5EF4-FFF2-40B4-BE49-F238E27FC236}">
                <a16:creationId xmlns:a16="http://schemas.microsoft.com/office/drawing/2014/main" id="{CAA45A07-1BE5-476C-B7FC-751FBE1C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47800"/>
            <a:ext cx="3743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重点：AtomVLA</a:t>
            </a:r>
          </a:p>
        </p:txBody>
      </p:sp>
      <p:sp>
        <p:nvSpPr>
          <p:cNvPr id="67" name="chapter3-category-35-0">
            <a:extLst xmlns:a="http://schemas.openxmlformats.org/drawingml/2006/main">
              <a:ext uri="{FF2B5EF4-FFF2-40B4-BE49-F238E27FC236}">
                <a16:creationId xmlns:a16="http://schemas.microsoft.com/office/drawing/2014/main" id="{6689FFAC-3821-4307-B3BB-915D0792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22459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LLM预测状态</a:t>
            </a:r>
          </a:p>
        </p:txBody>
      </p:sp>
      <p:sp>
        <p:nvSpPr>
          <p:cNvPr id="68" name="chapter3-category-35-1">
            <a:extLst xmlns:a="http://schemas.openxmlformats.org/drawingml/2006/main">
              <a:ext uri="{FF2B5EF4-FFF2-40B4-BE49-F238E27FC236}">
                <a16:creationId xmlns:a16="http://schemas.microsoft.com/office/drawing/2014/main" id="{44EE2818-F081-4A45-88F3-70A86FD1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95" y="1752600"/>
            <a:ext cx="22459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语言进入动力学</a:t>
            </a:r>
          </a:p>
        </p:txBody>
      </p:sp>
      <p:sp>
        <p:nvSpPr>
          <p:cNvPr id="69" name="chapter3-category-35-2">
            <a:extLst xmlns:a="http://schemas.openxmlformats.org/drawingml/2006/main">
              <a:ext uri="{FF2B5EF4-FFF2-40B4-BE49-F238E27FC236}">
                <a16:creationId xmlns:a16="http://schemas.microsoft.com/office/drawing/2014/main" id="{E848FC28-F122-423B-8FE1-C89F373F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190" y="1752600"/>
            <a:ext cx="22459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世界模型提供知识</a:t>
            </a:r>
          </a:p>
        </p:txBody>
      </p:sp>
      <p:sp>
        <p:nvSpPr>
          <p:cNvPr id="70" name="chapter3-category-35-3">
            <a:extLst xmlns:a="http://schemas.openxmlformats.org/drawingml/2006/main">
              <a:ext uri="{FF2B5EF4-FFF2-40B4-BE49-F238E27FC236}">
                <a16:creationId xmlns:a16="http://schemas.microsoft.com/office/drawing/2014/main" id="{68A2176D-8F31-4EF9-B353-DF0899F2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5185" y="1752600"/>
            <a:ext cx="22459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双分支协同</a:t>
            </a:r>
          </a:p>
        </p:txBody>
      </p:sp>
      <p:sp>
        <p:nvSpPr>
          <p:cNvPr id="71" name="chapter3-category-35-4">
            <a:extLst xmlns:a="http://schemas.openxmlformats.org/drawingml/2006/main">
              <a:ext uri="{FF2B5EF4-FFF2-40B4-BE49-F238E27FC236}">
                <a16:creationId xmlns:a16="http://schemas.microsoft.com/office/drawing/2014/main" id="{E5571B14-842A-482D-92A4-961CD81D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180" y="1752600"/>
            <a:ext cx="22459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LLM生成动力学</a:t>
            </a:r>
          </a:p>
        </p:txBody>
      </p:sp>
    </p:spTree>
    <p:extLst>
      <p:ext uri="{BB962C8B-B14F-4D97-AF65-F5344CB8AC3E}">
        <p14:creationId xmlns:p14="http://schemas.microsoft.com/office/powerpoint/2010/main" val="27715709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9AF1650-56EC-4472-A12D-0433E16C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第三部分｜LLM 与世界模型结合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69EF034-D07B-4C9C-AE1C-A6ABAEBC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AtomVLA｜离线世界模型后训练 4B VLA 策略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8CCD1FB3-69FA-4B79-A086-B48A33BD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848E9BF-3B09-4A69-A173-C8B5E19A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51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0DC23EC-6BC3-4FA6-8CCA-0335B880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27200"/>
            <a:ext cx="1854200" cy="185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96549CDC-E876-48AA-B1D8-3B9957E1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《LLM与世界模型结合研究整理》§7.1–§7.2。</a:t>
            </a:r>
          </a:p>
        </p:txBody>
      </p:sp>
      <p:sp>
        <p:nvSpPr>
          <p:cNvPr id="55" name="paper-intro-oneline-37">
            <a:extLst xmlns:a="http://schemas.openxmlformats.org/drawingml/2006/main">
              <a:ext uri="{FF2B5EF4-FFF2-40B4-BE49-F238E27FC236}">
                <a16:creationId xmlns:a16="http://schemas.microsoft.com/office/drawing/2014/main" id="{36AC7645-A48A-41B1-8E64-76DCA2D0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11125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71450" tIns="95250" rIns="1714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一句话概括｜GPT-4o 离线拆分原子子任务，V-JEPA2 潜在世界模型离线评分候选动作，GRPO 把偏好固化进 4B VLA 策略。</a:t>
            </a:r>
          </a:p>
        </p:txBody>
      </p:sp>
      <p:sp>
        <p:nvSpPr>
          <p:cNvPr id="56" name="paper-intro-label-37-0">
            <a:extLst xmlns:a="http://schemas.openxmlformats.org/drawingml/2006/main">
              <a:ext uri="{FF2B5EF4-FFF2-40B4-BE49-F238E27FC236}">
                <a16:creationId xmlns:a16="http://schemas.microsoft.com/office/drawing/2014/main" id="{121AF24B-0F4F-4A3A-BCB8-4DA5CE71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发现的问题</a:t>
            </a:r>
          </a:p>
        </p:txBody>
      </p:sp>
      <p:sp>
        <p:nvSpPr>
          <p:cNvPr id="57" name="paper-intro-body-37-0">
            <a:extLst xmlns:a="http://schemas.openxmlformats.org/drawingml/2006/main">
              <a:ext uri="{FF2B5EF4-FFF2-40B4-BE49-F238E27FC236}">
                <a16:creationId xmlns:a16="http://schemas.microsoft.com/office/drawing/2014/main" id="{12073B30-5452-4A02-88A9-98C9B82C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05225"/>
            <a:ext cx="3829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47625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高层指令缺少阶段性约束，VLA 在长时程操作中容易出现语义—动作脱节与误差累积；真实机器人在线 RL 又昂贵且存在安全风险。</a:t>
            </a:r>
          </a:p>
        </p:txBody>
      </p:sp>
      <p:sp>
        <p:nvSpPr>
          <p:cNvPr id="58" name="paper-intro-separator-37-0">
            <a:extLst xmlns:a="http://schemas.openxmlformats.org/drawingml/2006/main">
              <a:ext uri="{FF2B5EF4-FFF2-40B4-BE49-F238E27FC236}">
                <a16:creationId xmlns:a16="http://schemas.microsoft.com/office/drawing/2014/main" id="{0C5D3DDD-D822-4CAA-AC5D-6EE76B6D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19450"/>
            <a:ext cx="9525" cy="2371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9" name="paper-intro-label-37-1">
            <a:extLst xmlns:a="http://schemas.openxmlformats.org/drawingml/2006/main">
              <a:ext uri="{FF2B5EF4-FFF2-40B4-BE49-F238E27FC236}">
                <a16:creationId xmlns:a16="http://schemas.microsoft.com/office/drawing/2014/main" id="{1A169E51-2CA4-47D2-9846-F3EE801C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1945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9A5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9A533B"/>
                </a:solidFill>
                <a:latin typeface="Microsoft YaHei"/>
                <a:ea typeface="Microsoft YaHei"/>
                <a:cs typeface="Microsoft YaHei"/>
              </a:rPr>
              <a:t>世界模型定位</a:t>
            </a:r>
          </a:p>
        </p:txBody>
      </p:sp>
      <p:sp>
        <p:nvSpPr>
          <p:cNvPr id="60" name="paper-intro-body-37-1">
            <a:extLst xmlns:a="http://schemas.openxmlformats.org/drawingml/2006/main">
              <a:ext uri="{FF2B5EF4-FFF2-40B4-BE49-F238E27FC236}">
                <a16:creationId xmlns:a16="http://schemas.microsoft.com/office/drawing/2014/main" id="{B8A7C41D-0FC6-4CA5-81F9-BF516886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05225"/>
            <a:ext cx="32575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47625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冻结的 V-JEPA2 视觉编码器 J(·) 与动作条件预测器 Wθ 构成潜在世界模型；不重建 RGB，只在离线 GRPO 后训练中评分候选动作。</a:t>
            </a:r>
          </a:p>
        </p:txBody>
      </p:sp>
      <p:sp>
        <p:nvSpPr>
          <p:cNvPr id="61" name="paper-intro-separator-37-1">
            <a:extLst xmlns:a="http://schemas.openxmlformats.org/drawingml/2006/main">
              <a:ext uri="{FF2B5EF4-FFF2-40B4-BE49-F238E27FC236}">
                <a16:creationId xmlns:a16="http://schemas.microsoft.com/office/drawing/2014/main" id="{FAA7AF43-537B-4513-9036-29CD09A6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19450"/>
            <a:ext cx="9525" cy="2371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paper-intro-label-37-2">
            <a:extLst xmlns:a="http://schemas.openxmlformats.org/drawingml/2006/main">
              <a:ext uri="{FF2B5EF4-FFF2-40B4-BE49-F238E27FC236}">
                <a16:creationId xmlns:a16="http://schemas.microsoft.com/office/drawing/2014/main" id="{4DADA090-69A3-4472-B02F-7F906B00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194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973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9735B"/>
                </a:solidFill>
                <a:latin typeface="Microsoft YaHei"/>
                <a:ea typeface="Microsoft YaHei"/>
                <a:cs typeface="Microsoft YaHei"/>
              </a:rPr>
              <a:t>同一动作头与部署主体</a:t>
            </a:r>
          </a:p>
        </p:txBody>
      </p:sp>
      <p:sp>
        <p:nvSpPr>
          <p:cNvPr id="63" name="paper-intro-body-37-2">
            <a:extLst xmlns:a="http://schemas.openxmlformats.org/drawingml/2006/main">
              <a:ext uri="{FF2B5EF4-FFF2-40B4-BE49-F238E27FC236}">
                <a16:creationId xmlns:a16="http://schemas.microsoft.com/office/drawing/2014/main" id="{849C997B-6CAA-4E1C-ADBF-19310BCC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05225"/>
            <a:ext cx="32766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47625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Stage I 与 Stage II 顺序优化同一个动作头；真机部署的是训练后的 VLA 策略，GPT-4o 与 JEPA 世界模型均不进入真实推理环路。</a:t>
            </a:r>
          </a:p>
        </p:txBody>
      </p:sp>
      <p:sp>
        <p:nvSpPr>
          <p:cNvPr id="64" name="chapter3-primary-37-0">
            <a:extLst xmlns:a="http://schemas.openxmlformats.org/drawingml/2006/main">
              <a:ext uri="{FF2B5EF4-FFF2-40B4-BE49-F238E27FC236}">
                <a16:creationId xmlns:a16="http://schemas.microsoft.com/office/drawing/2014/main" id="{721AD2A3-E70F-4E7E-B5A7-7CC13F91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3743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分类总览</a:t>
            </a:r>
          </a:p>
        </p:txBody>
      </p:sp>
      <p:sp>
        <p:nvSpPr>
          <p:cNvPr id="65" name="chapter3-primary-37-1">
            <a:extLst xmlns:a="http://schemas.openxmlformats.org/drawingml/2006/main">
              <a:ext uri="{FF2B5EF4-FFF2-40B4-BE49-F238E27FC236}">
                <a16:creationId xmlns:a16="http://schemas.microsoft.com/office/drawing/2014/main" id="{5068BE88-7408-48B3-B033-828EC214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447800"/>
            <a:ext cx="3743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五类结合方式</a:t>
            </a:r>
          </a:p>
        </p:txBody>
      </p:sp>
      <p:sp>
        <p:nvSpPr>
          <p:cNvPr id="66" name="chapter3-primary-37-2">
            <a:extLst xmlns:a="http://schemas.openxmlformats.org/drawingml/2006/main">
              <a:ext uri="{FF2B5EF4-FFF2-40B4-BE49-F238E27FC236}">
                <a16:creationId xmlns:a16="http://schemas.microsoft.com/office/drawing/2014/main" id="{0C7F3EE1-FBB5-4C0F-9347-0EFC6474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47800"/>
            <a:ext cx="3743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重点：AtomVLA</a:t>
            </a:r>
          </a:p>
        </p:txBody>
      </p:sp>
    </p:spTree>
    <p:extLst>
      <p:ext uri="{BB962C8B-B14F-4D97-AF65-F5344CB8AC3E}">
        <p14:creationId xmlns:p14="http://schemas.microsoft.com/office/powerpoint/2010/main" val="27715709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6BD436A3-3E0B-4B48-85E7-234DF534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第三部分｜LLM 与世界模型结合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C13F289-B5DC-44FE-A5F7-618E6A02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AtomVLA Stage I｜GPT-4o 子任务标注与监督微调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0D1E2B7C-DBB4-442D-87A6-B477D077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DE4A8A-766F-4DD5-8858-B3D903AD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E368E7BE-36E9-4CFF-B5DC-1EDF5C25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05150"/>
            <a:ext cx="400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BD2F5B0B-F0C4-4970-96A8-80106D88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05150"/>
            <a:ext cx="400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04E8D933-AE28-4052-8A97-1AC1AD3C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400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1856CDD6-AE46-49AB-A5F0-C55ACCE5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2514600" cy="1466850"/>
          </a:xfrm>
          <a:prstGeom xmlns:a="http://schemas.openxmlformats.org/drawingml/2006/main" prst="roundRect">
            <a:avLst>
              <a:gd name="adj" fmla="val 649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5CB501A-E01C-4CD0-943F-56AE7B00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D09ADEA-04FF-4618-820F-7AB90488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抽取示范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377CA4D-BC7A-4117-B9F7-EF995E8D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抽取机器人示范帧并保留高层任务指令。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078F2A1F-B37B-4862-9232-5DC40EB8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00300"/>
            <a:ext cx="2514600" cy="1466850"/>
          </a:xfrm>
          <a:prstGeom xmlns:a="http://schemas.openxmlformats.org/drawingml/2006/main" prst="roundRect">
            <a:avLst>
              <a:gd name="adj" fmla="val 649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5B1595A-29E9-4C87-A306-603A588C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0CB25BA-D213-421F-8B8E-16961C8A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956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GPT-4o拆解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C8A492D-4C16-4D2B-9192-86F20AA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拆成2–5个基本操作，输出文本和起止帧。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E89B8B90-85BD-488D-876B-26C7336E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00300"/>
            <a:ext cx="2514600" cy="1466850"/>
          </a:xfrm>
          <a:prstGeom xmlns:a="http://schemas.openxmlformats.org/drawingml/2006/main" prst="roundRect">
            <a:avLst>
              <a:gd name="adj" fmla="val 649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9A594D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FDCFDD1-3949-4E17-89E5-98F0201A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AC67D56-BA1B-42BB-9B8F-12D833E6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构建上下文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FAFAEC6-6F8B-48B4-B9D5-45C75F4D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多视角观察+高层/当前子任务进入Qwen3-VL，形成Hₜ。</a:t>
            </a:r>
          </a:p>
        </p:txBody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2A941D09-943F-430F-8F3B-6EEBD90F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2514600" cy="1466850"/>
          </a:xfrm>
          <a:prstGeom xmlns:a="http://schemas.openxmlformats.org/drawingml/2006/main" prst="roundRect">
            <a:avLst>
              <a:gd name="adj" fmla="val 649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FA73AB8-1BF5-4627-9A90-837D84F8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BF7761D-4629-4F6B-BE29-1C29D531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956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SFT动作头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D7988AC-D109-4293-AF18-B6D254A0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337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用示范动作监督微调VLA与动作头。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BB50C071-3AB4-4834-A65A-8588377F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5238750" cy="1504950"/>
          </a:xfrm>
          <a:prstGeom xmlns:a="http://schemas.openxmlformats.org/drawingml/2006/main" prst="roundRect">
            <a:avLst>
              <a:gd name="adj" fmla="val 63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562DDB9-0376-4453-9C14-76AF48D3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Stage I 输出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4410CB37-36B4-40E4-BAEC-B6D9CC3E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4724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得到能够直接执行任务的基础策略与动作头π_ref。</a:t>
            </a:r>
          </a:p>
        </p:txBody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7E7141BD-46C0-4D88-AFE6-13821B6C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48150"/>
            <a:ext cx="5524500" cy="1504950"/>
          </a:xfrm>
          <a:prstGeom xmlns:a="http://schemas.openxmlformats.org/drawingml/2006/main" prst="roundRect">
            <a:avLst>
              <a:gd name="adj" fmla="val 63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4E7460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18512317-38EF-48FC-9204-CF7DBAD2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rPr>
              <a:t>与 Stage II 的接口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153693AD-BD5C-4A41-B6FD-3909AAF2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95850"/>
            <a:ext cx="5010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π_ref既是候选动作的初始策略，也是后训练KL约束的参考策略。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C576CF62-36FF-4B90-AAB4-401EB3E6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GPT-4o只在离线标注阶段出现，不进入真实机器人推理链。</a:t>
            </a:r>
          </a:p>
        </p:txBody>
      </p:sp>
      <p:sp>
        <p:nvSpPr>
          <p:cNvPr id="37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2383F2C6-E4CD-49A2-A15F-427F9179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《LLM与世界模型结合研究整理》表38。</a:t>
            </a:r>
          </a:p>
        </p:txBody>
      </p:sp>
      <p:sp>
        <p:nvSpPr>
          <p:cNvPr id="38" name="chapter3-primary-39-0">
            <a:extLst xmlns:a="http://schemas.openxmlformats.org/drawingml/2006/main">
              <a:ext uri="{FF2B5EF4-FFF2-40B4-BE49-F238E27FC236}">
                <a16:creationId xmlns:a16="http://schemas.microsoft.com/office/drawing/2014/main" id="{8D364BF8-2B30-4A6F-A8E2-E87298AE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3743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分类总览</a:t>
            </a:r>
          </a:p>
        </p:txBody>
      </p:sp>
      <p:sp>
        <p:nvSpPr>
          <p:cNvPr id="39" name="chapter3-primary-39-1">
            <a:extLst xmlns:a="http://schemas.openxmlformats.org/drawingml/2006/main">
              <a:ext uri="{FF2B5EF4-FFF2-40B4-BE49-F238E27FC236}">
                <a16:creationId xmlns:a16="http://schemas.microsoft.com/office/drawing/2014/main" id="{34EA4BF5-E5BC-4E20-8335-C0F5CDF7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447800"/>
            <a:ext cx="3743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五类结合方式</a:t>
            </a:r>
          </a:p>
        </p:txBody>
      </p:sp>
      <p:sp>
        <p:nvSpPr>
          <p:cNvPr id="40" name="chapter3-primary-39-2">
            <a:extLst xmlns:a="http://schemas.openxmlformats.org/drawingml/2006/main">
              <a:ext uri="{FF2B5EF4-FFF2-40B4-BE49-F238E27FC236}">
                <a16:creationId xmlns:a16="http://schemas.microsoft.com/office/drawing/2014/main" id="{5085CB86-B9B1-444F-AD76-71189703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47800"/>
            <a:ext cx="3743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重点：AtomVLA</a:t>
            </a:r>
          </a:p>
        </p:txBody>
      </p:sp>
    </p:spTree>
    <p:extLst>
      <p:ext uri="{BB962C8B-B14F-4D97-AF65-F5344CB8AC3E}">
        <p14:creationId xmlns:p14="http://schemas.microsoft.com/office/powerpoint/2010/main" val="3122404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9AF1650-56EC-4472-A12D-0433E16C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第三部分｜LLM 与世界模型结合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69EF034-D07B-4C9C-AE1C-A6ABAEBC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AtomVLA Stage II｜V-JEPA2 评分与 GRPO 后训练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8CCD1FB3-69FA-4B79-A086-B48A33BD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848E9BF-3B09-4A69-A173-C8B5E19A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B3284CA-E44C-42CF-9A8C-28113E3B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1813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61C464E-9165-40BE-83EE-C086CFBA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813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25CBC4AA-17B1-4B8F-B609-6F2D819C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813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EA8D7C58-D3A7-4B56-8A41-56F83B77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A418BCB3-DAEE-40AA-A7D7-DF255176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813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3758BCE4-25E1-4574-BF7B-C3C9D6ED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813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594D"/>
            </a:solidFill>
            <a:prstDash val="solid"/>
          </a:ln>
        </p:spPr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A25E9F27-8A2E-4980-BDED-BAD23DF6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9054221-A808-4072-91FD-A49D0B29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8FF94E7-EB85-4535-B58E-5C800214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采样状态</a:t>
            </a:r>
            <a:endParaRPr sz="1350" b="1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F753490-8302-4014-B375-2778DF93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从离线示范取状态</a:t>
            </a:r>
            <a:endParaRPr sz="1088" b="1">
              <a:solidFill>
                <a:srgbClr val="5C687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: 圆角 19">
            <a:extLst xmlns:a="http://schemas.openxmlformats.org/drawingml/2006/main">
              <a:ext uri="{FF2B5EF4-FFF2-40B4-BE49-F238E27FC236}">
                <a16:creationId xmlns:a16="http://schemas.microsoft.com/office/drawing/2014/main" id="{A1990323-1349-480D-A8D8-D3981CD7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C37E779-731E-4F15-B173-AFBBB8C5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3F8AA5B-CA9B-488C-8314-FCD25B8C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生成候选</a:t>
            </a:r>
            <a:endParaRPr sz="1350" b="1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4C8CD22-884D-4422-9CD3-22808649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同一动作头生成10个动作块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EE2AD78F-C869-40D3-92EB-FD548129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2EF10EC-E19A-4131-BC3C-6CA4CCD3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EF11FFD-8942-4111-BFC7-EA815A8B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编码目标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CF067B6-09C1-4D10-B938-96239731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J编码当前/子目标/终目标</a:t>
            </a: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A383185F-0C8E-49AB-AE09-862F1F76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79E64A9-524D-4E3C-955C-525766B3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F7E142C-1BBF-43E7-8914-1628A790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预测未来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C561196-E899-4F6A-A535-D0F36ED4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Wθ逐个预测t+N latent</a:t>
            </a:r>
          </a:p>
        </p:txBody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5B22583B-A1AD-4C6A-AB3A-D0EB4F3E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8BCD798-F693-4FCD-8AED-41D01E43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7FA79FEA-A851-4740-AB9E-464DCA9F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计算奖励</a:t>
            </a:r>
            <a:endParaRPr sz="1350" b="1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01198E15-152C-4DAD-A0E7-159025A5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目标距离+专家偏差</a:t>
            </a:r>
          </a:p>
        </p:txBody>
      </p:sp>
      <p:sp>
        <p:nvSpPr>
          <p:cNvPr id="36" name="矩形: 圆角 35">
            <a:extLst xmlns:a="http://schemas.openxmlformats.org/drawingml/2006/main">
              <a:ext uri="{FF2B5EF4-FFF2-40B4-BE49-F238E27FC236}">
                <a16:creationId xmlns:a16="http://schemas.microsoft.com/office/drawing/2014/main" id="{7CCF455D-3996-4F16-8AB6-F5CE8CB6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2B9DC9CC-E1E9-462D-898A-3A1CCE35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651BCD5-FE60-45B5-9348-B3A707A0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GRPO更新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990BCF45-EBD3-4482-8C6A-7873A6CF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组内优势+KL约束π_ref</a:t>
            </a:r>
          </a:p>
        </p:txBody>
      </p:sp>
      <p:sp>
        <p:nvSpPr>
          <p:cNvPr id="40" name="矩形: 圆角 39">
            <a:extLst xmlns:a="http://schemas.openxmlformats.org/drawingml/2006/main">
              <a:ext uri="{FF2B5EF4-FFF2-40B4-BE49-F238E27FC236}">
                <a16:creationId xmlns:a16="http://schemas.microsoft.com/office/drawing/2014/main" id="{6260218D-AF33-4AE0-B835-D69E76C0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7B28F648-A6A2-4CEC-84D4-36E26B07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2C34E5A-29D3-451F-9B37-AC73A857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更新边界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3BEC4E7-0961-4528-9CE5-A3E869BA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只更新动作头；冻结J和Wθ</a:t>
            </a:r>
          </a:p>
        </p:txBody>
      </p:sp>
      <p:sp>
        <p:nvSpPr>
          <p:cNvPr id="44" name="矩形: 圆角 43">
            <a:extLst xmlns:a="http://schemas.openxmlformats.org/drawingml/2006/main">
              <a:ext uri="{FF2B5EF4-FFF2-40B4-BE49-F238E27FC236}">
                <a16:creationId xmlns:a16="http://schemas.microsoft.com/office/drawing/2014/main" id="{95F1C812-EAF0-4E3F-AE85-B3794DD0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11029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204FBEA4-D32C-481E-BFD6-C3ABC86B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Stage II 输出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3FA566C0-6C11-4D8B-822C-64677132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得到经GRPO改进的VLA动作策略；GPT-4o不参与本阶段。</a:t>
            </a:r>
          </a:p>
        </p:txBody>
      </p:sp>
      <p:sp>
        <p:nvSpPr>
          <p:cNvPr id="49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7D03F808-D68C-471E-A4C1-503D8760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《LLM与世界模型结合研究整理》表39。</a:t>
            </a:r>
          </a:p>
        </p:txBody>
      </p:sp>
      <p:sp>
        <p:nvSpPr>
          <p:cNvPr id="50" name="chapter3-primary-40-0">
            <a:extLst xmlns:a="http://schemas.openxmlformats.org/drawingml/2006/main">
              <a:ext uri="{FF2B5EF4-FFF2-40B4-BE49-F238E27FC236}">
                <a16:creationId xmlns:a16="http://schemas.microsoft.com/office/drawing/2014/main" id="{0CCC9D78-47C4-4B34-87A8-262F7090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3743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分类总览</a:t>
            </a:r>
          </a:p>
        </p:txBody>
      </p:sp>
      <p:sp>
        <p:nvSpPr>
          <p:cNvPr id="51" name="chapter3-primary-40-1">
            <a:extLst xmlns:a="http://schemas.openxmlformats.org/drawingml/2006/main">
              <a:ext uri="{FF2B5EF4-FFF2-40B4-BE49-F238E27FC236}">
                <a16:creationId xmlns:a16="http://schemas.microsoft.com/office/drawing/2014/main" id="{1330F307-5F9B-4AE4-B48F-7E0BA6E8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447800"/>
            <a:ext cx="3743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五类结合方式</a:t>
            </a:r>
          </a:p>
        </p:txBody>
      </p:sp>
      <p:sp>
        <p:nvSpPr>
          <p:cNvPr id="52" name="chapter3-primary-40-2">
            <a:extLst xmlns:a="http://schemas.openxmlformats.org/drawingml/2006/main">
              <a:ext uri="{FF2B5EF4-FFF2-40B4-BE49-F238E27FC236}">
                <a16:creationId xmlns:a16="http://schemas.microsoft.com/office/drawing/2014/main" id="{A6239164-262C-4927-93C3-0B80976A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47800"/>
            <a:ext cx="3743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重点：AtomVLA</a:t>
            </a:r>
          </a:p>
        </p:txBody>
      </p:sp>
    </p:spTree>
    <p:extLst>
      <p:ext uri="{BB962C8B-B14F-4D97-AF65-F5344CB8AC3E}">
        <p14:creationId xmlns:p14="http://schemas.microsoft.com/office/powerpoint/2010/main" val="142006833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9AF1650-56EC-4472-A12D-0433E16C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第四部分｜世界模型的机器人应用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69EF034-D07B-4C9C-AE1C-A6ABAEBC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DreamGen｜离线生成可训练的“神经轨迹”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8CCD1FB3-69FA-4B79-A086-B48A33BD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848E9BF-3B09-4A69-A173-C8B5E19A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9735FC6-5DDA-4E04-B07C-810CA967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选择依据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A81461E-002A-4CCB-9181-77DFB78F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生成训练数据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B996AF7-10F4-4801-BB2D-3BA30FEA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提供未来线索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57B0E6A-7F43-4BBA-87F1-30783C1C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评估候选动作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2ADDADD-57A2-4402-8DC0-D338D0F1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直接生成/边缘</a:t>
            </a:r>
          </a:p>
        </p:txBody>
      </p:sp>
      <p:sp>
        <p:nvSpPr>
          <p:cNvPr id="51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0DC23EC-6BC3-4FA6-8CCA-0335B880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27200"/>
            <a:ext cx="1854200" cy="185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96549CDC-E876-48AA-B1D8-3B9957E1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《机器人x世界模型四种应用方式》§2.1，图3-1（原论文Figure 2）。</a:t>
            </a:r>
          </a:p>
        </p:txBody>
      </p:sp>
      <p:sp>
        <p:nvSpPr>
          <p:cNvPr id="55" name="paper-hero-oneline-47">
            <a:extLst xmlns:a="http://schemas.openxmlformats.org/drawingml/2006/main">
              <a:ext uri="{FF2B5EF4-FFF2-40B4-BE49-F238E27FC236}">
                <a16:creationId xmlns:a16="http://schemas.microsoft.com/office/drawing/2014/main" id="{2D445B99-90D4-48DF-8398-0F04051F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一句话概括｜视频世界模型离线生成任务视频，动作标注模块补出伪动作，独立视觉运动策略再从神经轨迹中学习。</a:t>
            </a:r>
          </a:p>
        </p:txBody>
      </p:sp>
      <p:sp>
        <p:nvSpPr>
          <p:cNvPr id="56" name="paper-hero-image-frame-47">
            <a:extLst xmlns:a="http://schemas.openxmlformats.org/drawingml/2006/main">
              <a:ext uri="{FF2B5EF4-FFF2-40B4-BE49-F238E27FC236}">
                <a16:creationId xmlns:a16="http://schemas.microsoft.com/office/drawing/2014/main" id="{98C8CDD9-4309-4FD2-910F-832DE527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6762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8D5DD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63dac34a54f51"/>
          <a:stretch xmlns:a="http://schemas.openxmlformats.org/drawingml/2006/main"/>
        </p:blipFill>
        <p:spPr>
          <a:xfrm xmlns:a="http://schemas.openxmlformats.org/drawingml/2006/main">
            <a:off x="1717644" y="2762250"/>
            <a:ext cx="4394262" cy="2628900"/>
          </a:xfrm>
          <a:prstGeom xmlns:a="http://schemas.openxmlformats.org/drawingml/2006/main" prst="rect">
            <a:avLst/>
          </a:prstGeom>
        </p:spPr>
      </p:pic>
      <p:sp>
        <p:nvSpPr>
          <p:cNvPr id="58" name="paper-hero-caption-47">
            <a:extLst xmlns:a="http://schemas.openxmlformats.org/drawingml/2006/main">
              <a:ext uri="{FF2B5EF4-FFF2-40B4-BE49-F238E27FC236}">
                <a16:creationId xmlns:a16="http://schemas.microsoft.com/office/drawing/2014/main" id="{FC93FBCE-43D3-4BD6-A74E-9719E99F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原论文方法图｜为保证可读性放大呈现</a:t>
            </a:r>
          </a:p>
        </p:txBody>
      </p:sp>
      <p:sp>
        <p:nvSpPr>
          <p:cNvPr id="59" name="paper-hero-label-47-0">
            <a:extLst xmlns:a="http://schemas.openxmlformats.org/drawingml/2006/main">
              <a:ext uri="{FF2B5EF4-FFF2-40B4-BE49-F238E27FC236}">
                <a16:creationId xmlns:a16="http://schemas.microsoft.com/office/drawing/2014/main" id="{DB7309DB-A9B8-40F2-95DC-4C805F7C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28900"/>
            <a:ext cx="392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发现的问题</a:t>
            </a:r>
          </a:p>
        </p:txBody>
      </p:sp>
      <p:sp>
        <p:nvSpPr>
          <p:cNvPr id="60" name="paper-hero-body-47-0">
            <a:extLst xmlns:a="http://schemas.openxmlformats.org/drawingml/2006/main">
              <a:ext uri="{FF2B5EF4-FFF2-40B4-BE49-F238E27FC236}">
                <a16:creationId xmlns:a16="http://schemas.microsoft.com/office/drawing/2014/main" id="{9B994D31-4FD1-473A-8D60-38DC4445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76550"/>
            <a:ext cx="3924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策略依赖逐任务、逐环境、逐本体的遥操作；传统仿真又需大量工程建模。</a:t>
            </a:r>
          </a:p>
        </p:txBody>
      </p:sp>
      <p:sp>
        <p:nvSpPr>
          <p:cNvPr id="61" name="paper-hero-sep-47-0">
            <a:extLst xmlns:a="http://schemas.openxmlformats.org/drawingml/2006/main">
              <a:ext uri="{FF2B5EF4-FFF2-40B4-BE49-F238E27FC236}">
                <a16:creationId xmlns:a16="http://schemas.microsoft.com/office/drawing/2014/main" id="{52F6C65B-212E-416F-A5FA-69CB0836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81375"/>
            <a:ext cx="392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paper-hero-label-47-1">
            <a:extLst xmlns:a="http://schemas.openxmlformats.org/drawingml/2006/main">
              <a:ext uri="{FF2B5EF4-FFF2-40B4-BE49-F238E27FC236}">
                <a16:creationId xmlns:a16="http://schemas.microsoft.com/office/drawing/2014/main" id="{17720979-8460-49FF-ABB9-C22DA596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19475"/>
            <a:ext cx="392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A5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A533B"/>
                </a:solidFill>
                <a:latin typeface="Microsoft YaHei"/>
                <a:ea typeface="Microsoft YaHei"/>
                <a:cs typeface="Microsoft YaHei"/>
              </a:rPr>
              <a:t>优化实现</a:t>
            </a:r>
          </a:p>
        </p:txBody>
      </p:sp>
      <p:sp>
        <p:nvSpPr>
          <p:cNvPr id="63" name="paper-hero-body-47-1">
            <a:extLst xmlns:a="http://schemas.openxmlformats.org/drawingml/2006/main">
              <a:ext uri="{FF2B5EF4-FFF2-40B4-BE49-F238E27FC236}">
                <a16:creationId xmlns:a16="http://schemas.microsoft.com/office/drawing/2014/main" id="{15CF98F5-9083-4132-87C2-3892331F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67125"/>
            <a:ext cx="3924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LoRA适配视频世界模型 → 生成视频 → IDM/LAPA伪动作 → 神经轨迹训练策略。</a:t>
            </a:r>
          </a:p>
        </p:txBody>
      </p:sp>
      <p:sp>
        <p:nvSpPr>
          <p:cNvPr id="64" name="paper-hero-sep-47-1">
            <a:extLst xmlns:a="http://schemas.openxmlformats.org/drawingml/2006/main">
              <a:ext uri="{FF2B5EF4-FFF2-40B4-BE49-F238E27FC236}">
                <a16:creationId xmlns:a16="http://schemas.microsoft.com/office/drawing/2014/main" id="{26B47653-3797-4390-8836-D317A958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71950"/>
            <a:ext cx="392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paper-hero-label-47-2">
            <a:extLst xmlns:a="http://schemas.openxmlformats.org/drawingml/2006/main">
              <a:ext uri="{FF2B5EF4-FFF2-40B4-BE49-F238E27FC236}">
                <a16:creationId xmlns:a16="http://schemas.microsoft.com/office/drawing/2014/main" id="{B56E723C-5FB5-45A4-BEE7-974BD7A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92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973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735B"/>
                </a:solidFill>
                <a:latin typeface="Microsoft YaHei"/>
                <a:ea typeface="Microsoft YaHei"/>
                <a:cs typeface="Microsoft YaHei"/>
              </a:rPr>
              <a:t>实际意义</a:t>
            </a:r>
          </a:p>
        </p:txBody>
      </p:sp>
      <p:sp>
        <p:nvSpPr>
          <p:cNvPr id="66" name="paper-hero-body-47-2">
            <a:extLst xmlns:a="http://schemas.openxmlformats.org/drawingml/2006/main">
              <a:ext uri="{FF2B5EF4-FFF2-40B4-BE49-F238E27FC236}">
                <a16:creationId xmlns:a16="http://schemas.microsoft.com/office/drawing/2014/main" id="{D725E1D1-EC13-4A34-BB9F-EE8E3523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57700"/>
            <a:ext cx="3924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把无动作视频转为策略可学习数据；世界模型只在离线数据生成阶段工作。</a:t>
            </a:r>
          </a:p>
        </p:txBody>
      </p:sp>
      <p:sp>
        <p:nvSpPr>
          <p:cNvPr id="67" name="paper-hero-sep-47-2">
            <a:extLst xmlns:a="http://schemas.openxmlformats.org/drawingml/2006/main">
              <a:ext uri="{FF2B5EF4-FFF2-40B4-BE49-F238E27FC236}">
                <a16:creationId xmlns:a16="http://schemas.microsoft.com/office/drawing/2014/main" id="{08D6E1AF-563B-45D0-92F4-7B954F15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62525"/>
            <a:ext cx="392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8" name="paper-hero-label-47-3">
            <a:extLst xmlns:a="http://schemas.openxmlformats.org/drawingml/2006/main">
              <a:ext uri="{FF2B5EF4-FFF2-40B4-BE49-F238E27FC236}">
                <a16:creationId xmlns:a16="http://schemas.microsoft.com/office/drawing/2014/main" id="{E0D58514-FCDA-4FFD-BA8F-39966DC5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00625"/>
            <a:ext cx="392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机器人形态</a:t>
            </a:r>
          </a:p>
        </p:txBody>
      </p:sp>
      <p:sp>
        <p:nvSpPr>
          <p:cNvPr id="69" name="paper-hero-body-47-3">
            <a:extLst xmlns:a="http://schemas.openxmlformats.org/drawingml/2006/main">
              <a:ext uri="{FF2B5EF4-FFF2-40B4-BE49-F238E27FC236}">
                <a16:creationId xmlns:a16="http://schemas.microsoft.com/office/drawing/2014/main" id="{EDFFF6A9-49B2-436A-A089-87893A4F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248275"/>
            <a:ext cx="3924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Fourier GR1人形、Franka Emika、LeRobot SO-100与RoboCasa仿真机械臂。</a:t>
            </a:r>
          </a:p>
        </p:txBody>
      </p:sp>
    </p:spTree>
    <p:extLst>
      <p:ext uri="{BB962C8B-B14F-4D97-AF65-F5344CB8AC3E}">
        <p14:creationId xmlns:p14="http://schemas.microsoft.com/office/powerpoint/2010/main" val="27715709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9AF1650-56EC-4472-A12D-0433E16C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第四部分｜世界模型的机器人应用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69EF034-D07B-4C9C-AE1C-A6ABAEBC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DreamGen 训练与部署｜世界模型只在离线制备数据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8CCD1FB3-69FA-4B79-A086-B48A33BD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848E9BF-3B09-4A69-A173-C8B5E19A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9735FC6-5DDA-4E04-B07C-810CA967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选择依据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A81461E-002A-4CCB-9181-77DFB78F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生成训练数据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B996AF7-10F4-4801-BB2D-3BA30FEA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提供未来线索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57B0E6A-7F43-4BBA-87F1-30783C1C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评估候选动作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2ADDADD-57A2-4402-8DC0-D338D0F1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直接生成/边缘</a:t>
            </a:r>
          </a:p>
        </p:txBody>
      </p:sp>
      <p:sp>
        <p:nvSpPr>
          <p:cNvPr id="51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0DC23EC-6BC3-4FA6-8CCA-0335B880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27200"/>
            <a:ext cx="1854200" cy="185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96549CDC-E876-48AA-B1D8-3B9957E1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《机器人x世界模型四种应用方式》表11。</a:t>
            </a:r>
          </a:p>
        </p:txBody>
      </p:sp>
      <p:sp>
        <p:nvSpPr>
          <p:cNvPr id="55" name="paper-workflow-lane-48-0">
            <a:extLst xmlns:a="http://schemas.openxmlformats.org/drawingml/2006/main">
              <a:ext uri="{FF2B5EF4-FFF2-40B4-BE49-F238E27FC236}">
                <a16:creationId xmlns:a16="http://schemas.microsoft.com/office/drawing/2014/main" id="{80708B8B-1D19-4EA6-9D08-1F1A2E38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11252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2DDE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paper-workflow-lane-title-48-0">
            <a:extLst xmlns:a="http://schemas.openxmlformats.org/drawingml/2006/main">
              <a:ext uri="{FF2B5EF4-FFF2-40B4-BE49-F238E27FC236}">
                <a16:creationId xmlns:a16="http://schemas.microsoft.com/office/drawing/2014/main" id="{8953D1C8-A1C5-4F76-80D7-4C88D3FC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428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训练链｜生成神经轨迹并训练策略</a:t>
            </a:r>
          </a:p>
        </p:txBody>
      </p:sp>
      <p:sp>
        <p:nvSpPr>
          <p:cNvPr id="57" name="paper-workflow-headline-48-0">
            <a:extLst xmlns:a="http://schemas.openxmlformats.org/drawingml/2006/main">
              <a:ext uri="{FF2B5EF4-FFF2-40B4-BE49-F238E27FC236}">
                <a16:creationId xmlns:a16="http://schemas.microsoft.com/office/drawing/2014/main" id="{CB59B6E1-2E47-492C-A0AB-D26AB0DD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90750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5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5313B"/>
                </a:solidFill>
                <a:latin typeface="Microsoft YaHei"/>
                <a:ea typeface="Microsoft YaHei"/>
                <a:cs typeface="Microsoft YaHei"/>
              </a:rPr>
              <a:t>训练阶段保留世界模型、伪动作模型和视觉运动策略三个层次。</a:t>
            </a:r>
          </a:p>
        </p:txBody>
      </p:sp>
      <p:sp>
        <p:nvSpPr>
          <p:cNvPr id="58" name="paper-workflow-num-48-0-0">
            <a:extLst xmlns:a="http://schemas.openxmlformats.org/drawingml/2006/main">
              <a:ext uri="{FF2B5EF4-FFF2-40B4-BE49-F238E27FC236}">
                <a16:creationId xmlns:a16="http://schemas.microsoft.com/office/drawing/2014/main" id="{0D8F3DA0-2321-4E54-992E-C91D7773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908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9" name="paper-workflow-item-48-0-0">
            <a:extLst xmlns:a="http://schemas.openxmlformats.org/drawingml/2006/main">
              <a:ext uri="{FF2B5EF4-FFF2-40B4-BE49-F238E27FC236}">
                <a16:creationId xmlns:a16="http://schemas.microsoft.com/office/drawing/2014/main" id="{97C48C99-F424-47D0-9B73-BB042CB8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590800"/>
            <a:ext cx="2606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遥操作视频通过LoRA适配视频世界模型。</a:t>
            </a:r>
          </a:p>
        </p:txBody>
      </p:sp>
      <p:sp>
        <p:nvSpPr>
          <p:cNvPr id="60" name="paper-workflow-num-48-0-1">
            <a:extLst xmlns:a="http://schemas.openxmlformats.org/drawingml/2006/main">
              <a:ext uri="{FF2B5EF4-FFF2-40B4-BE49-F238E27FC236}">
                <a16:creationId xmlns:a16="http://schemas.microsoft.com/office/drawing/2014/main" id="{849AE805-AEBC-424C-B2DA-DB4843B7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50" y="25908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1" name="paper-workflow-item-48-0-1">
            <a:extLst xmlns:a="http://schemas.openxmlformats.org/drawingml/2006/main">
              <a:ext uri="{FF2B5EF4-FFF2-40B4-BE49-F238E27FC236}">
                <a16:creationId xmlns:a16="http://schemas.microsoft.com/office/drawing/2014/main" id="{0DFB97E1-5C95-4094-857A-CA72678F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875" y="2590800"/>
            <a:ext cx="2606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初始图像+语言指令生成机器人任务视频。</a:t>
            </a:r>
          </a:p>
        </p:txBody>
      </p:sp>
      <p:sp>
        <p:nvSpPr>
          <p:cNvPr id="62" name="paper-workflow-num-48-0-2">
            <a:extLst xmlns:a="http://schemas.openxmlformats.org/drawingml/2006/main">
              <a:ext uri="{FF2B5EF4-FFF2-40B4-BE49-F238E27FC236}">
                <a16:creationId xmlns:a16="http://schemas.microsoft.com/office/drawing/2014/main" id="{3927942E-3C4A-4B7B-A957-031E703B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900" y="25908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3" name="paper-workflow-item-48-0-2">
            <a:extLst xmlns:a="http://schemas.openxmlformats.org/drawingml/2006/main">
              <a:ext uri="{FF2B5EF4-FFF2-40B4-BE49-F238E27FC236}">
                <a16:creationId xmlns:a16="http://schemas.microsoft.com/office/drawing/2014/main" id="{B14CB178-2754-4DDE-8620-4C1640F3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525" y="2590800"/>
            <a:ext cx="2606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IDM滑窗预测动作块，或LAPA提取潜动作。</a:t>
            </a:r>
          </a:p>
        </p:txBody>
      </p:sp>
      <p:sp>
        <p:nvSpPr>
          <p:cNvPr id="64" name="paper-workflow-num-48-0-3">
            <a:extLst xmlns:a="http://schemas.openxmlformats.org/drawingml/2006/main">
              <a:ext uri="{FF2B5EF4-FFF2-40B4-BE49-F238E27FC236}">
                <a16:creationId xmlns:a16="http://schemas.microsoft.com/office/drawing/2014/main" id="{DBE0E7A8-F4BC-45B9-A2D7-4F24DB75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385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5" name="paper-workflow-item-48-0-3">
            <a:extLst xmlns:a="http://schemas.openxmlformats.org/drawingml/2006/main">
              <a:ext uri="{FF2B5EF4-FFF2-40B4-BE49-F238E27FC236}">
                <a16:creationId xmlns:a16="http://schemas.microsoft.com/office/drawing/2014/main" id="{A566DC36-5795-4AC8-BED7-20FF658B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238500"/>
            <a:ext cx="2606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视频与伪动作组成神经轨迹。</a:t>
            </a:r>
          </a:p>
        </p:txBody>
      </p:sp>
      <p:sp>
        <p:nvSpPr>
          <p:cNvPr id="66" name="paper-workflow-num-48-0-4">
            <a:extLst xmlns:a="http://schemas.openxmlformats.org/drawingml/2006/main">
              <a:ext uri="{FF2B5EF4-FFF2-40B4-BE49-F238E27FC236}">
                <a16:creationId xmlns:a16="http://schemas.microsoft.com/office/drawing/2014/main" id="{24F9750F-9905-400C-BD87-5B12810B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50" y="32385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7" name="paper-workflow-item-48-0-4">
            <a:extLst xmlns:a="http://schemas.openxmlformats.org/drawingml/2006/main">
              <a:ext uri="{FF2B5EF4-FFF2-40B4-BE49-F238E27FC236}">
                <a16:creationId xmlns:a16="http://schemas.microsoft.com/office/drawing/2014/main" id="{1ADD7F7F-6079-4DD3-AA19-5180B30E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875" y="3238500"/>
            <a:ext cx="2606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真实轨迹与神经轨迹可按1:1共同训练视觉运动策略。</a:t>
            </a:r>
          </a:p>
        </p:txBody>
      </p:sp>
      <p:sp>
        <p:nvSpPr>
          <p:cNvPr id="68" name="paper-workflow-lane-48-1">
            <a:extLst xmlns:a="http://schemas.openxmlformats.org/drawingml/2006/main">
              <a:ext uri="{FF2B5EF4-FFF2-40B4-BE49-F238E27FC236}">
                <a16:creationId xmlns:a16="http://schemas.microsoft.com/office/drawing/2014/main" id="{2F8ACD01-66BB-43CC-8ACA-38553123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111252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2DDE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paper-workflow-lane-title-48-1">
            <a:extLst xmlns:a="http://schemas.openxmlformats.org/drawingml/2006/main">
              <a:ext uri="{FF2B5EF4-FFF2-40B4-BE49-F238E27FC236}">
                <a16:creationId xmlns:a16="http://schemas.microsoft.com/office/drawing/2014/main" id="{D78E6237-3551-4133-B3AC-7DADA121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1428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973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9735B"/>
                </a:solidFill>
                <a:latin typeface="Microsoft YaHei"/>
                <a:ea typeface="Microsoft YaHei"/>
                <a:cs typeface="Microsoft YaHei"/>
              </a:rPr>
              <a:t>部署链｜只运行训练后的策略</a:t>
            </a:r>
          </a:p>
        </p:txBody>
      </p:sp>
      <p:sp>
        <p:nvSpPr>
          <p:cNvPr id="70" name="paper-workflow-headline-48-1">
            <a:extLst xmlns:a="http://schemas.openxmlformats.org/drawingml/2006/main">
              <a:ext uri="{FF2B5EF4-FFF2-40B4-BE49-F238E27FC236}">
                <a16:creationId xmlns:a16="http://schemas.microsoft.com/office/drawing/2014/main" id="{71497F50-2B52-4FF3-AE35-4FEBDBA5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124325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5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5313B"/>
                </a:solidFill>
                <a:latin typeface="Microsoft YaHei"/>
                <a:ea typeface="Microsoft YaHei"/>
                <a:cs typeface="Microsoft YaHei"/>
              </a:rPr>
              <a:t>视频世界模型、IDM与LAPA均不在线调用。</a:t>
            </a:r>
          </a:p>
        </p:txBody>
      </p:sp>
      <p:sp>
        <p:nvSpPr>
          <p:cNvPr id="71" name="paper-workflow-num-48-1-0">
            <a:extLst xmlns:a="http://schemas.openxmlformats.org/drawingml/2006/main">
              <a:ext uri="{FF2B5EF4-FFF2-40B4-BE49-F238E27FC236}">
                <a16:creationId xmlns:a16="http://schemas.microsoft.com/office/drawing/2014/main" id="{5396D1A9-4F45-4D88-BE52-87C9B69A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52437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2" name="paper-workflow-item-48-1-0">
            <a:extLst xmlns:a="http://schemas.openxmlformats.org/drawingml/2006/main">
              <a:ext uri="{FF2B5EF4-FFF2-40B4-BE49-F238E27FC236}">
                <a16:creationId xmlns:a16="http://schemas.microsoft.com/office/drawing/2014/main" id="{2A53942A-B5BE-4E32-88E6-890C01D5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524375"/>
            <a:ext cx="26066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当前机器人图像+语言指令进入视觉运动策略。</a:t>
            </a:r>
          </a:p>
        </p:txBody>
      </p:sp>
      <p:sp>
        <p:nvSpPr>
          <p:cNvPr id="73" name="paper-workflow-num-48-1-1">
            <a:extLst xmlns:a="http://schemas.openxmlformats.org/drawingml/2006/main">
              <a:ext uri="{FF2B5EF4-FFF2-40B4-BE49-F238E27FC236}">
                <a16:creationId xmlns:a16="http://schemas.microsoft.com/office/drawing/2014/main" id="{462B8F80-A45F-45D4-85DA-7E74751B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50" y="452437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4" name="paper-workflow-item-48-1-1">
            <a:extLst xmlns:a="http://schemas.openxmlformats.org/drawingml/2006/main">
              <a:ext uri="{FF2B5EF4-FFF2-40B4-BE49-F238E27FC236}">
                <a16:creationId xmlns:a16="http://schemas.microsoft.com/office/drawing/2014/main" id="{01947341-044E-47B4-9FC9-F43C029F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875" y="4524375"/>
            <a:ext cx="26066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策略直接输出连续动作块。</a:t>
            </a:r>
          </a:p>
        </p:txBody>
      </p:sp>
      <p:sp>
        <p:nvSpPr>
          <p:cNvPr id="75" name="paper-workflow-num-48-1-2">
            <a:extLst xmlns:a="http://schemas.openxmlformats.org/drawingml/2006/main">
              <a:ext uri="{FF2B5EF4-FFF2-40B4-BE49-F238E27FC236}">
                <a16:creationId xmlns:a16="http://schemas.microsoft.com/office/drawing/2014/main" id="{3C1F62AE-1570-4A7F-827D-8FD5767C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900" y="452437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6" name="paper-workflow-item-48-1-2">
            <a:extLst xmlns:a="http://schemas.openxmlformats.org/drawingml/2006/main">
              <a:ext uri="{FF2B5EF4-FFF2-40B4-BE49-F238E27FC236}">
                <a16:creationId xmlns:a16="http://schemas.microsoft.com/office/drawing/2014/main" id="{F78019E7-6F30-4219-967C-AA7D5ACB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525" y="4524375"/>
            <a:ext cx="26066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执行并重新观察，继续闭环输出后续动作。</a:t>
            </a:r>
          </a:p>
        </p:txBody>
      </p:sp>
    </p:spTree>
    <p:extLst>
      <p:ext uri="{BB962C8B-B14F-4D97-AF65-F5344CB8AC3E}">
        <p14:creationId xmlns:p14="http://schemas.microsoft.com/office/powerpoint/2010/main" val="277157098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9AF1650-56EC-4472-A12D-0433E16C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第四部分｜世界模型的机器人应用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69EF034-D07B-4C9C-AE1C-A6ABAEBC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SkyJEPA 关键接口｜为什么必须把 latent 还原为物理轨迹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8CCD1FB3-69FA-4B79-A086-B48A33BD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848E9BF-3B09-4A69-A173-C8B5E19A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9735FC6-5DDA-4E04-B07C-810CA967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选择依据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A81461E-002A-4CCB-9181-77DFB78F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生成训练数据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B996AF7-10F4-4801-BB2D-3BA30FEA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提供未来线索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57B0E6A-7F43-4BBA-87F1-30783C1C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评估候选动作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2ADDADD-57A2-4402-8DC0-D338D0F1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直接生成/边缘</a:t>
            </a:r>
          </a:p>
        </p:txBody>
      </p:sp>
      <p:sp>
        <p:nvSpPr>
          <p:cNvPr id="51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0DC23EC-6BC3-4FA6-8CCA-0335B880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27200"/>
            <a:ext cx="1854200" cy="185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96549CDC-E876-48AA-B1D8-3B9957E1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《机器人x世界模型四种应用方式》表38、图5-2。</a:t>
            </a:r>
          </a:p>
        </p:txBody>
      </p:sp>
      <p:sp>
        <p:nvSpPr>
          <p:cNvPr id="55" name="paper-interface-oneline-60">
            <a:extLst xmlns:a="http://schemas.openxmlformats.org/drawingml/2006/main">
              <a:ext uri="{FF2B5EF4-FFF2-40B4-BE49-F238E27FC236}">
                <a16:creationId xmlns:a16="http://schemas.microsoft.com/office/drawing/2014/main" id="{222E4E72-39EE-44D7-9317-71B6212D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MPPI的代价函数需要位置、速度、姿态和控制量；纯latent无法直接进入经典控制代价与约束。</a:t>
            </a:r>
          </a:p>
        </p:txBody>
      </p:sp>
      <p:sp>
        <p:nvSpPr>
          <p:cNvPr id="56" name="paper-interface-image-frame-60">
            <a:extLst xmlns:a="http://schemas.openxmlformats.org/drawingml/2006/main">
              <a:ext uri="{FF2B5EF4-FFF2-40B4-BE49-F238E27FC236}">
                <a16:creationId xmlns:a16="http://schemas.microsoft.com/office/drawing/2014/main" id="{9C410F37-48C3-4A12-BE52-B3C1D21F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71818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8D5DD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0eea8d65e4d15"/>
          <a:stretch xmlns:a="http://schemas.openxmlformats.org/drawingml/2006/main"/>
        </p:blipFill>
        <p:spPr>
          <a:xfrm xmlns:a="http://schemas.openxmlformats.org/drawingml/2006/main">
            <a:off x="940594" y="2724150"/>
            <a:ext cx="6367463" cy="2000250"/>
          </a:xfrm>
          <a:prstGeom xmlns:a="http://schemas.openxmlformats.org/drawingml/2006/main" prst="rect">
            <a:avLst/>
          </a:prstGeom>
        </p:spPr>
      </p:pic>
      <p:sp>
        <p:nvSpPr>
          <p:cNvPr id="58" name="paper-interface-label-60-0">
            <a:extLst xmlns:a="http://schemas.openxmlformats.org/drawingml/2006/main">
              <a:ext uri="{FF2B5EF4-FFF2-40B4-BE49-F238E27FC236}">
                <a16:creationId xmlns:a16="http://schemas.microsoft.com/office/drawing/2014/main" id="{2C019592-09E7-4E20-A01E-1A1B59C7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717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探针输入</a:t>
            </a:r>
          </a:p>
        </p:txBody>
      </p:sp>
      <p:sp>
        <p:nvSpPr>
          <p:cNvPr id="59" name="paper-interface-body-60-0">
            <a:extLst xmlns:a="http://schemas.openxmlformats.org/drawingml/2006/main">
              <a:ext uri="{FF2B5EF4-FFF2-40B4-BE49-F238E27FC236}">
                <a16:creationId xmlns:a16="http://schemas.microsoft.com/office/drawing/2014/main" id="{77789DD2-0A52-452C-A80E-AD5D2802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冻结JEPA预测的候选未来latent。</a:t>
            </a:r>
          </a:p>
        </p:txBody>
      </p:sp>
      <p:sp>
        <p:nvSpPr>
          <p:cNvPr id="60" name="paper-interface-label-60-1">
            <a:extLst xmlns:a="http://schemas.openxmlformats.org/drawingml/2006/main">
              <a:ext uri="{FF2B5EF4-FFF2-40B4-BE49-F238E27FC236}">
                <a16:creationId xmlns:a16="http://schemas.microsoft.com/office/drawing/2014/main" id="{487A54D6-11AD-4B7F-A464-5261F84C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623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A5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A533B"/>
                </a:solidFill>
                <a:latin typeface="Microsoft YaHei"/>
                <a:ea typeface="Microsoft YaHei"/>
                <a:cs typeface="Microsoft YaHei"/>
              </a:rPr>
              <a:t>探针学习</a:t>
            </a:r>
          </a:p>
        </p:txBody>
      </p:sp>
      <p:sp>
        <p:nvSpPr>
          <p:cNvPr id="61" name="paper-interface-body-60-1">
            <a:extLst xmlns:a="http://schemas.openxmlformats.org/drawingml/2006/main">
              <a:ext uri="{FF2B5EF4-FFF2-40B4-BE49-F238E27FC236}">
                <a16:creationId xmlns:a16="http://schemas.microsoft.com/office/drawing/2014/main" id="{92D58A57-3F8D-4C9D-99F6-88860A0B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6230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由物理监督恢复动力学残差。</a:t>
            </a:r>
          </a:p>
        </p:txBody>
      </p:sp>
      <p:sp>
        <p:nvSpPr>
          <p:cNvPr id="62" name="paper-interface-label-60-2">
            <a:extLst xmlns:a="http://schemas.openxmlformats.org/drawingml/2006/main">
              <a:ext uri="{FF2B5EF4-FFF2-40B4-BE49-F238E27FC236}">
                <a16:creationId xmlns:a16="http://schemas.microsoft.com/office/drawing/2014/main" id="{EBA29D36-66C1-4647-BB77-9A4D86F0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528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3973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39735B"/>
                </a:solidFill>
                <a:latin typeface="Microsoft YaHei"/>
                <a:ea typeface="Microsoft YaHei"/>
                <a:cs typeface="Microsoft YaHei"/>
              </a:rPr>
              <a:t>结构化积分</a:t>
            </a:r>
          </a:p>
        </p:txBody>
      </p:sp>
      <p:sp>
        <p:nvSpPr>
          <p:cNvPr id="63" name="paper-interface-body-60-2">
            <a:extLst xmlns:a="http://schemas.openxmlformats.org/drawingml/2006/main">
              <a:ext uri="{FF2B5EF4-FFF2-40B4-BE49-F238E27FC236}">
                <a16:creationId xmlns:a16="http://schemas.microsoft.com/office/drawing/2014/main" id="{848E3F56-4F83-47CD-9951-10E5E388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5285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重建位置、速度、姿态和角速度轨迹。</a:t>
            </a:r>
          </a:p>
        </p:txBody>
      </p:sp>
      <p:sp>
        <p:nvSpPr>
          <p:cNvPr id="64" name="paper-interface-label-60-3">
            <a:extLst xmlns:a="http://schemas.openxmlformats.org/drawingml/2006/main">
              <a:ext uri="{FF2B5EF4-FFF2-40B4-BE49-F238E27FC236}">
                <a16:creationId xmlns:a16="http://schemas.microsoft.com/office/drawing/2014/main" id="{08EA23AA-F553-4557-B0F7-F5BB0B12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434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控制使用</a:t>
            </a:r>
          </a:p>
        </p:txBody>
      </p:sp>
      <p:sp>
        <p:nvSpPr>
          <p:cNvPr id="65" name="paper-interface-body-60-3">
            <a:extLst xmlns:a="http://schemas.openxmlformats.org/drawingml/2006/main">
              <a:ext uri="{FF2B5EF4-FFF2-40B4-BE49-F238E27FC236}">
                <a16:creationId xmlns:a16="http://schemas.microsoft.com/office/drawing/2014/main" id="{C78D9FBB-15A1-430F-BB8E-54CD2112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4340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MPPI评价512条候选；PX4只执行第一条控制命令。</a:t>
            </a:r>
          </a:p>
        </p:txBody>
      </p:sp>
      <p:sp>
        <p:nvSpPr>
          <p:cNvPr id="66" name="paper-interface-distinction-60">
            <a:extLst xmlns:a="http://schemas.openxmlformats.org/drawingml/2006/main">
              <a:ext uri="{FF2B5EF4-FFF2-40B4-BE49-F238E27FC236}">
                <a16:creationId xmlns:a16="http://schemas.microsoft.com/office/drawing/2014/main" id="{756E1AEA-629D-4D61-8546-A5C66BE0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6668">
            <a:solidFill>
              <a:srgbClr val="B9CAD4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38" b="1">
                <a:solidFill>
                  <a:srgbClr val="25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25313B"/>
                </a:solidFill>
                <a:latin typeface="Microsoft YaHei"/>
                <a:ea typeface="Microsoft YaHei"/>
                <a:cs typeface="Microsoft YaHei"/>
              </a:rPr>
              <a:t>与V-JEPA 2-AC不同：前者直接比较latent目标距离；SkyJEPA先恢复物理轨迹，再使用经典控制代价。</a:t>
            </a:r>
          </a:p>
        </p:txBody>
      </p:sp>
    </p:spTree>
    <p:extLst>
      <p:ext uri="{BB962C8B-B14F-4D97-AF65-F5344CB8AC3E}">
        <p14:creationId xmlns:p14="http://schemas.microsoft.com/office/powerpoint/2010/main" val="27715709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9AF1650-56EC-4472-A12D-0433E16C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第四部分｜世界模型的机器人应用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69EF034-D07B-4C9C-AE1C-A6ABAEBC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SkyJEPA 完整训练流程｜八步构建可控潜动力学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8CCD1FB3-69FA-4B79-A086-B48A33BD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848E9BF-3B09-4A69-A173-C8B5E19A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61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9735FC6-5DDA-4E04-B07C-810CA967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选择依据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A81461E-002A-4CCB-9181-77DFB78F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生成训练数据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B996AF7-10F4-4801-BB2D-3BA30FEA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提供未来线索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57B0E6A-7F43-4BBA-87F1-30783C1C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评估候选动作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2ADDADD-57A2-4402-8DC0-D338D0F1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直接生成/边缘</a:t>
            </a:r>
          </a:p>
        </p:txBody>
      </p:sp>
      <p:sp>
        <p:nvSpPr>
          <p:cNvPr id="51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0DC23EC-6BC3-4FA6-8CCA-0335B880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27200"/>
            <a:ext cx="1854200" cy="185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96549CDC-E876-48AA-B1D8-3B9957E1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《机器人x世界模型四种应用方式》表39（训练1–8）。</a:t>
            </a:r>
          </a:p>
        </p:txBody>
      </p:sp>
      <p:sp>
        <p:nvSpPr>
          <p:cNvPr id="55" name="workflow-step-outline-61-0">
            <a:extLst xmlns:a="http://schemas.openxmlformats.org/drawingml/2006/main">
              <a:ext uri="{FF2B5EF4-FFF2-40B4-BE49-F238E27FC236}">
                <a16:creationId xmlns:a16="http://schemas.microsoft.com/office/drawing/2014/main" id="{D7D5905E-44D5-4FB7-ABBF-3A10DE34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2667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2DDE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workflow-step-num-61-0">
            <a:extLst xmlns:a="http://schemas.openxmlformats.org/drawingml/2006/main">
              <a:ext uri="{FF2B5EF4-FFF2-40B4-BE49-F238E27FC236}">
                <a16:creationId xmlns:a16="http://schemas.microsoft.com/office/drawing/2014/main" id="{854500B7-E98B-4FD6-9C41-3A347C3F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7" name="workflow-step-title-61-0">
            <a:extLst xmlns:a="http://schemas.openxmlformats.org/drawingml/2006/main">
              <a:ext uri="{FF2B5EF4-FFF2-40B4-BE49-F238E27FC236}">
                <a16:creationId xmlns:a16="http://schemas.microsoft.com/office/drawing/2014/main" id="{3EE3A096-7B93-49FA-B359-9E5805C0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6217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轨迹生成器</a:t>
            </a:r>
          </a:p>
        </p:txBody>
      </p:sp>
      <p:sp>
        <p:nvSpPr>
          <p:cNvPr id="58" name="workflow-step-body-61-0">
            <a:extLst xmlns:a="http://schemas.openxmlformats.org/drawingml/2006/main">
              <a:ext uri="{FF2B5EF4-FFF2-40B4-BE49-F238E27FC236}">
                <a16:creationId xmlns:a16="http://schemas.microsoft.com/office/drawing/2014/main" id="{1348F1C2-1F53-48C1-8E63-9C9D83D4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62225"/>
            <a:ext cx="24384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多周期核高斯过程采样参考，并由微分平坦性得到完整四旋翼参考。</a:t>
            </a:r>
          </a:p>
        </p:txBody>
      </p:sp>
      <p:sp>
        <p:nvSpPr>
          <p:cNvPr id="59" name="workflow-step-outline-61-1">
            <a:extLst xmlns:a="http://schemas.openxmlformats.org/drawingml/2006/main">
              <a:ext uri="{FF2B5EF4-FFF2-40B4-BE49-F238E27FC236}">
                <a16:creationId xmlns:a16="http://schemas.microsoft.com/office/drawing/2014/main" id="{A5354B9B-4212-45A3-ABC2-CF37AD3D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43125"/>
            <a:ext cx="2667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2DDE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workflow-step-num-61-1">
            <a:extLst xmlns:a="http://schemas.openxmlformats.org/drawingml/2006/main">
              <a:ext uri="{FF2B5EF4-FFF2-40B4-BE49-F238E27FC236}">
                <a16:creationId xmlns:a16="http://schemas.microsoft.com/office/drawing/2014/main" id="{4DFBFD87-50A2-4BF9-A6C1-8D46B4E3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43125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3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1" name="workflow-step-title-61-1">
            <a:extLst xmlns:a="http://schemas.openxmlformats.org/drawingml/2006/main">
              <a:ext uri="{FF2B5EF4-FFF2-40B4-BE49-F238E27FC236}">
                <a16:creationId xmlns:a16="http://schemas.microsoft.com/office/drawing/2014/main" id="{16B4F915-27AA-42F1-B110-29872344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6217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A5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533B"/>
                </a:solidFill>
                <a:latin typeface="Microsoft YaHei"/>
                <a:ea typeface="Microsoft YaHei"/>
                <a:cs typeface="Microsoft YaHei"/>
              </a:rPr>
              <a:t>仿真控制器</a:t>
            </a:r>
          </a:p>
        </p:txBody>
      </p:sp>
      <p:sp>
        <p:nvSpPr>
          <p:cNvPr id="62" name="workflow-step-body-61-1">
            <a:extLst xmlns:a="http://schemas.openxmlformats.org/drawingml/2006/main">
              <a:ext uri="{FF2B5EF4-FFF2-40B4-BE49-F238E27FC236}">
                <a16:creationId xmlns:a16="http://schemas.microsoft.com/office/drawing/2014/main" id="{FBA7A85C-FEFE-4108-BA9A-91465EC1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62225"/>
            <a:ext cx="24384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NMPC与MPPI闭环跟踪，生成满足执行器限制的状态—动作轨迹。</a:t>
            </a:r>
          </a:p>
        </p:txBody>
      </p:sp>
      <p:sp>
        <p:nvSpPr>
          <p:cNvPr id="63" name="workflow-step-outline-61-2">
            <a:extLst xmlns:a="http://schemas.openxmlformats.org/drawingml/2006/main">
              <a:ext uri="{FF2B5EF4-FFF2-40B4-BE49-F238E27FC236}">
                <a16:creationId xmlns:a16="http://schemas.microsoft.com/office/drawing/2014/main" id="{080FCA96-08D7-4E2E-8E92-7EE4E445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667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2DDE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workflow-step-num-61-2">
            <a:extLst xmlns:a="http://schemas.openxmlformats.org/drawingml/2006/main">
              <a:ext uri="{FF2B5EF4-FFF2-40B4-BE49-F238E27FC236}">
                <a16:creationId xmlns:a16="http://schemas.microsoft.com/office/drawing/2014/main" id="{5E91205E-64EE-4C49-A095-EE713776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5" name="workflow-step-title-61-2">
            <a:extLst xmlns:a="http://schemas.openxmlformats.org/drawingml/2006/main">
              <a:ext uri="{FF2B5EF4-FFF2-40B4-BE49-F238E27FC236}">
                <a16:creationId xmlns:a16="http://schemas.microsoft.com/office/drawing/2014/main" id="{F04E7E95-7399-4908-BF7D-4845E2CA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6217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973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9735B"/>
                </a:solidFill>
                <a:latin typeface="Microsoft YaHei"/>
                <a:ea typeface="Microsoft YaHei"/>
                <a:cs typeface="Microsoft YaHei"/>
              </a:rPr>
              <a:t>域随机化</a:t>
            </a:r>
          </a:p>
        </p:txBody>
      </p:sp>
      <p:sp>
        <p:nvSpPr>
          <p:cNvPr id="66" name="workflow-step-body-61-2">
            <a:extLst xmlns:a="http://schemas.openxmlformats.org/drawingml/2006/main">
              <a:ext uri="{FF2B5EF4-FFF2-40B4-BE49-F238E27FC236}">
                <a16:creationId xmlns:a16="http://schemas.microsoft.com/office/drawing/2014/main" id="{53169D57-0A8F-4821-8460-7B77392B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62225"/>
            <a:ext cx="24384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500个域随机质量、惯量、马达时间常数、阻力和推力。</a:t>
            </a:r>
          </a:p>
        </p:txBody>
      </p:sp>
      <p:sp>
        <p:nvSpPr>
          <p:cNvPr id="67" name="workflow-step-outline-61-3">
            <a:extLst xmlns:a="http://schemas.openxmlformats.org/drawingml/2006/main">
              <a:ext uri="{FF2B5EF4-FFF2-40B4-BE49-F238E27FC236}">
                <a16:creationId xmlns:a16="http://schemas.microsoft.com/office/drawing/2014/main" id="{B05773A5-4EA6-47B2-8380-4D40F7D2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43125"/>
            <a:ext cx="2667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2DDE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8" name="workflow-step-num-61-3">
            <a:extLst xmlns:a="http://schemas.openxmlformats.org/drawingml/2006/main">
              <a:ext uri="{FF2B5EF4-FFF2-40B4-BE49-F238E27FC236}">
                <a16:creationId xmlns:a16="http://schemas.microsoft.com/office/drawing/2014/main" id="{190A6394-6A7A-4E35-B327-9FFD93A3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43125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9" name="workflow-step-title-61-3">
            <a:extLst xmlns:a="http://schemas.openxmlformats.org/drawingml/2006/main">
              <a:ext uri="{FF2B5EF4-FFF2-40B4-BE49-F238E27FC236}">
                <a16:creationId xmlns:a16="http://schemas.microsoft.com/office/drawing/2014/main" id="{B0975E76-E8D9-434F-9993-DB0EBAE5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6217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双TCN编码</a:t>
            </a:r>
          </a:p>
        </p:txBody>
      </p:sp>
      <p:sp>
        <p:nvSpPr>
          <p:cNvPr id="70" name="workflow-step-body-61-3">
            <a:extLst xmlns:a="http://schemas.openxmlformats.org/drawingml/2006/main">
              <a:ext uri="{FF2B5EF4-FFF2-40B4-BE49-F238E27FC236}">
                <a16:creationId xmlns:a16="http://schemas.microsoft.com/office/drawing/2014/main" id="{FE76E8F8-2280-4895-AAEB-CEF9966C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62225"/>
            <a:ext cx="24384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分别编码最近10步状态历史和动作历史。</a:t>
            </a:r>
          </a:p>
        </p:txBody>
      </p:sp>
      <p:sp>
        <p:nvSpPr>
          <p:cNvPr id="71" name="workflow-step-outline-61-4">
            <a:extLst xmlns:a="http://schemas.openxmlformats.org/drawingml/2006/main">
              <a:ext uri="{FF2B5EF4-FFF2-40B4-BE49-F238E27FC236}">
                <a16:creationId xmlns:a16="http://schemas.microsoft.com/office/drawing/2014/main" id="{17789C12-F667-406F-A25E-9A366A79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2667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2DDE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2" name="workflow-step-num-61-4">
            <a:extLst xmlns:a="http://schemas.openxmlformats.org/drawingml/2006/main">
              <a:ext uri="{FF2B5EF4-FFF2-40B4-BE49-F238E27FC236}">
                <a16:creationId xmlns:a16="http://schemas.microsoft.com/office/drawing/2014/main" id="{317CC752-BC8F-422E-B798-75CADF5D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3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3" name="workflow-step-title-61-4">
            <a:extLst xmlns:a="http://schemas.openxmlformats.org/drawingml/2006/main">
              <a:ext uri="{FF2B5EF4-FFF2-40B4-BE49-F238E27FC236}">
                <a16:creationId xmlns:a16="http://schemas.microsoft.com/office/drawing/2014/main" id="{F8A78906-2D93-43EC-8BB9-D6A3EFF3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576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A5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533B"/>
                </a:solidFill>
                <a:latin typeface="Microsoft YaHei"/>
                <a:ea typeface="Microsoft YaHei"/>
                <a:cs typeface="Microsoft YaHei"/>
              </a:rPr>
              <a:t>GRU预测</a:t>
            </a:r>
          </a:p>
        </p:txBody>
      </p:sp>
      <p:sp>
        <p:nvSpPr>
          <p:cNvPr id="74" name="workflow-step-body-61-4">
            <a:extLst xmlns:a="http://schemas.openxmlformats.org/drawingml/2006/main">
              <a:ext uri="{FF2B5EF4-FFF2-40B4-BE49-F238E27FC236}">
                <a16:creationId xmlns:a16="http://schemas.microsoft.com/office/drawing/2014/main" id="{5BC28A67-CA10-4B17-88FD-F00775D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24384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递推未来20步latent，并与真实未来状态编码对齐。</a:t>
            </a:r>
          </a:p>
        </p:txBody>
      </p:sp>
      <p:sp>
        <p:nvSpPr>
          <p:cNvPr id="75" name="workflow-step-outline-61-5">
            <a:extLst xmlns:a="http://schemas.openxmlformats.org/drawingml/2006/main">
              <a:ext uri="{FF2B5EF4-FFF2-40B4-BE49-F238E27FC236}">
                <a16:creationId xmlns:a16="http://schemas.microsoft.com/office/drawing/2014/main" id="{B8BEC513-9F54-40F2-A564-96B1E8AF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38600"/>
            <a:ext cx="2667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2DDE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6" name="workflow-step-num-61-5">
            <a:extLst xmlns:a="http://schemas.openxmlformats.org/drawingml/2006/main">
              <a:ext uri="{FF2B5EF4-FFF2-40B4-BE49-F238E27FC236}">
                <a16:creationId xmlns:a16="http://schemas.microsoft.com/office/drawing/2014/main" id="{62E95955-AFE8-4C65-85F0-7B15C294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386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7" name="workflow-step-title-61-5">
            <a:extLst xmlns:a="http://schemas.openxmlformats.org/drawingml/2006/main">
              <a:ext uri="{FF2B5EF4-FFF2-40B4-BE49-F238E27FC236}">
                <a16:creationId xmlns:a16="http://schemas.microsoft.com/office/drawing/2014/main" id="{61819442-B73B-465D-8B9F-49B08071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576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973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9735B"/>
                </a:solidFill>
                <a:latin typeface="Microsoft YaHei"/>
                <a:ea typeface="Microsoft YaHei"/>
                <a:cs typeface="Microsoft YaHei"/>
              </a:rPr>
              <a:t>SIGReg</a:t>
            </a:r>
          </a:p>
        </p:txBody>
      </p:sp>
      <p:sp>
        <p:nvSpPr>
          <p:cNvPr id="78" name="workflow-step-body-61-5">
            <a:extLst xmlns:a="http://schemas.openxmlformats.org/drawingml/2006/main">
              <a:ext uri="{FF2B5EF4-FFF2-40B4-BE49-F238E27FC236}">
                <a16:creationId xmlns:a16="http://schemas.microsoft.com/office/drawing/2014/main" id="{AA55F55C-BD8E-4B41-BEA5-B5EBADF8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57700"/>
            <a:ext cx="24384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约束潜在分布，防止编码器输出退化为常量。</a:t>
            </a:r>
          </a:p>
        </p:txBody>
      </p:sp>
      <p:sp>
        <p:nvSpPr>
          <p:cNvPr id="79" name="workflow-step-outline-61-6">
            <a:extLst xmlns:a="http://schemas.openxmlformats.org/drawingml/2006/main">
              <a:ext uri="{FF2B5EF4-FFF2-40B4-BE49-F238E27FC236}">
                <a16:creationId xmlns:a16="http://schemas.microsoft.com/office/drawing/2014/main" id="{1AADFD28-7C8D-40B2-AE00-5D8C8646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2667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2DDE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workflow-step-num-61-6">
            <a:extLst xmlns:a="http://schemas.openxmlformats.org/drawingml/2006/main">
              <a:ext uri="{FF2B5EF4-FFF2-40B4-BE49-F238E27FC236}">
                <a16:creationId xmlns:a16="http://schemas.microsoft.com/office/drawing/2014/main" id="{98529500-EBFE-4B41-9A17-D6EE5C40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1" name="workflow-step-title-61-6">
            <a:extLst xmlns:a="http://schemas.openxmlformats.org/drawingml/2006/main">
              <a:ext uri="{FF2B5EF4-FFF2-40B4-BE49-F238E27FC236}">
                <a16:creationId xmlns:a16="http://schemas.microsoft.com/office/drawing/2014/main" id="{959D9196-E565-4BF0-8E2B-C80810B5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576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486"/>
                </a:solidFill>
                <a:latin typeface="Microsoft YaHei"/>
                <a:ea typeface="Microsoft YaHei"/>
                <a:cs typeface="Microsoft YaHei"/>
              </a:rPr>
              <a:t>冻结动力学</a:t>
            </a:r>
          </a:p>
        </p:txBody>
      </p:sp>
      <p:sp>
        <p:nvSpPr>
          <p:cNvPr id="82" name="workflow-step-body-61-6">
            <a:extLst xmlns:a="http://schemas.openxmlformats.org/drawingml/2006/main">
              <a:ext uri="{FF2B5EF4-FFF2-40B4-BE49-F238E27FC236}">
                <a16:creationId xmlns:a16="http://schemas.microsoft.com/office/drawing/2014/main" id="{31C8D771-B51D-4CE1-B6B0-9C48E0E1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57700"/>
            <a:ext cx="24384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固定两个编码器和GRU，不再被物理监督改写。</a:t>
            </a:r>
          </a:p>
        </p:txBody>
      </p:sp>
      <p:sp>
        <p:nvSpPr>
          <p:cNvPr id="83" name="workflow-step-outline-61-7">
            <a:extLst xmlns:a="http://schemas.openxmlformats.org/drawingml/2006/main">
              <a:ext uri="{FF2B5EF4-FFF2-40B4-BE49-F238E27FC236}">
                <a16:creationId xmlns:a16="http://schemas.microsoft.com/office/drawing/2014/main" id="{C277415D-6CDE-4F30-9B57-8B21AFEE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38600"/>
            <a:ext cx="2667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2DDE4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workflow-step-num-61-7">
            <a:extLst xmlns:a="http://schemas.openxmlformats.org/drawingml/2006/main">
              <a:ext uri="{FF2B5EF4-FFF2-40B4-BE49-F238E27FC236}">
                <a16:creationId xmlns:a16="http://schemas.microsoft.com/office/drawing/2014/main" id="{9C34658D-42E4-454B-AD30-FFF65D9D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386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3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5" name="workflow-step-title-61-7">
            <a:extLst xmlns:a="http://schemas.openxmlformats.org/drawingml/2006/main">
              <a:ext uri="{FF2B5EF4-FFF2-40B4-BE49-F238E27FC236}">
                <a16:creationId xmlns:a16="http://schemas.microsoft.com/office/drawing/2014/main" id="{C1AC20BD-2CBD-43F4-9F2F-2CC8FE88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576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A5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533B"/>
                </a:solidFill>
                <a:latin typeface="Microsoft YaHei"/>
                <a:ea typeface="Microsoft YaHei"/>
                <a:cs typeface="Microsoft YaHei"/>
              </a:rPr>
              <a:t>物理探针</a:t>
            </a:r>
          </a:p>
        </p:txBody>
      </p:sp>
      <p:sp>
        <p:nvSpPr>
          <p:cNvPr id="86" name="workflow-step-body-61-7">
            <a:extLst xmlns:a="http://schemas.openxmlformats.org/drawingml/2006/main">
              <a:ext uri="{FF2B5EF4-FFF2-40B4-BE49-F238E27FC236}">
                <a16:creationId xmlns:a16="http://schemas.microsoft.com/office/drawing/2014/main" id="{D040993B-803E-4B7B-908D-7AEAD572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57700"/>
            <a:ext cx="24384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5424E"/>
                </a:solidFill>
                <a:latin typeface="Microsoft YaHei"/>
                <a:ea typeface="Microsoft YaHei"/>
                <a:cs typeface="Microsoft YaHei"/>
              </a:rPr>
              <a:t>恢复动力学残差并结构化积分，得到可供控制的物理轨迹。</a:t>
            </a:r>
          </a:p>
        </p:txBody>
      </p:sp>
    </p:spTree>
    <p:extLst>
      <p:ext uri="{BB962C8B-B14F-4D97-AF65-F5344CB8AC3E}">
        <p14:creationId xmlns:p14="http://schemas.microsoft.com/office/powerpoint/2010/main" val="27715709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9FC50F5-E022-424F-A71B-6DBD4651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第四部分｜世界模型的机器人应用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41386A6-3E7C-43CB-BC96-2C28AD68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候选评估路线对比｜直接潜代价与物理轨迹代价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2A4142ED-584B-40F2-9E8D-DB98DB67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D7BC8F8-9467-4479-8995-76EC5783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63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AF7743A-1CB7-414F-9892-42D1CB5B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选择依据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D34B399-F223-40B1-B20E-79F6AAE9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生成训练数据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F9DB83F-0C89-4BA8-87D5-963BFE8A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提供未来线索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BEBEB4E-C51B-463F-841B-FF612834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评估候选动作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CCD6AC0-E9C0-4232-B727-12AA6DAC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直接生成/边缘</a:t>
            </a:r>
          </a:p>
        </p:txBody>
      </p:sp>
      <p:graphicFrame>
        <p:nvGraphicFramePr>
          <p:cNvPr id="24" name="表格 19"/>
          <p:cNvGraphicFramePr/>
          <p:nvPr/>
        </p:nvGraphicFramePr>
        <p:xfrm>
          <a:off xmlns:a="http://schemas.openxmlformats.org/drawingml/2006/main" x="552450" y="2114550"/>
          <a:ext xmlns:a="http://schemas.openxmlformats.org/drawingml/2006/main" cx="110871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300"/>
                <a:gridCol w="4095750"/>
                <a:gridCol w="5353050"/>
              </a:tblGrid>
              <a:tr h="3619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比较项</a:t>
                      </a:r>
                    </a:p>
                  </a:txBody>
                  <a:tcPr marL="95250" marR="95250" marT="57150" marB="57150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V-JEPA 2-AC｜直接评估</a:t>
                      </a:r>
                    </a:p>
                  </a:txBody>
                  <a:tcPr marL="95250" marR="95250" marT="57150" marB="57150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SkyJEPA｜间接评估</a:t>
                      </a:r>
                      <a:endParaRPr sz="1125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156082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世界模型输出</a:t>
                      </a:r>
                    </a:p>
                  </a:txBody>
                  <a:tcPr marL="95250" marR="95250" marT="57150" marB="571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未来视觉潜表示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未来动力学潜表示</a:t>
                      </a:r>
                    </a:p>
                  </a:txBody>
                  <a:tcPr marL="95250" marR="95250" marT="57150" marB="57150" anchor="ctr">
                    <a:solidFill>
                      <a:srgbClr val="E7F0EA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评分前转换</a:t>
                      </a:r>
                    </a:p>
                  </a:txBody>
                  <a:tcPr marL="95250" marR="95250" marT="57150" marB="571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无；直接与目标latent比较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物理探针 + 结构化积分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E7F0EA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代价函数</a:t>
                      </a:r>
                      <a:endParaRPr sz="1088" b="1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L1潜在目标距离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位置/姿态跟踪与控制输入等物理代价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E7F0EA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搜索器</a:t>
                      </a:r>
                      <a:endParaRPr sz="1088" b="1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CEM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MPPI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E7F0EA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运行证据</a:t>
                      </a:r>
                    </a:p>
                  </a:txBody>
                  <a:tcPr marL="95250" marR="95250" marT="57150" marB="571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RTX4090约16秒/动作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Orin NX全机载户外闭环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E7F0EA"/>
                    </a:solidFill>
                  </a:tcPr>
                </a:tc>
              </a:tr>
            </a:tbl>
          </a:graphicData>
        </a:graphic>
      </p:graphicFrame>
      <p:sp>
        <p:nvSpPr>
          <p:cNvPr id="13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6133A316-44C6-4409-96EB-CB21A71F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《机器人x世界模型四种应用方式》表41。</a:t>
            </a:r>
          </a:p>
        </p:txBody>
      </p:sp>
    </p:spTree>
    <p:extLst>
      <p:ext uri="{BB962C8B-B14F-4D97-AF65-F5344CB8AC3E}">
        <p14:creationId xmlns:p14="http://schemas.microsoft.com/office/powerpoint/2010/main" val="6409095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2026-08-24T05:03:38.0470000Z</dcterms:created>
  <dcterms:modified xsi:type="dcterms:W3CDTF">2026-08-24T05:03:38.0470000Z</dcterms:modified>
</coreProperties>
</file>